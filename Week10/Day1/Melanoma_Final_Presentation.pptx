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hkio" panose="020B0604020202020204" charset="0"/>
      <p:regular r:id="rId15"/>
    </p:embeddedFont>
    <p:embeddedFont>
      <p:font typeface="Ahkio Bold" panose="020B0604020202020204" charset="0"/>
      <p:regular r:id="rId16"/>
    </p:embeddedFont>
    <p:embeddedFont>
      <p:font typeface="Alata" panose="020B0604020202020204" charset="0"/>
      <p:regular r:id="rId17"/>
    </p:embeddedFont>
    <p:embeddedFont>
      <p:font typeface="Alatsi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ai-training-mipxqexmw7lfuh84hevpb2.streamlit.app/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8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1897" y="5238201"/>
            <a:ext cx="7019936" cy="3165353"/>
          </a:xfrm>
          <a:custGeom>
            <a:avLst/>
            <a:gdLst/>
            <a:ahLst/>
            <a:cxnLst/>
            <a:rect l="l" t="t" r="r" b="b"/>
            <a:pathLst>
              <a:path w="7019936" h="3165353">
                <a:moveTo>
                  <a:pt x="0" y="0"/>
                </a:moveTo>
                <a:lnTo>
                  <a:pt x="7019936" y="0"/>
                </a:lnTo>
                <a:lnTo>
                  <a:pt x="7019936" y="3165353"/>
                </a:lnTo>
                <a:lnTo>
                  <a:pt x="0" y="3165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06213" y="2130814"/>
            <a:ext cx="6852960" cy="5825016"/>
          </a:xfrm>
          <a:custGeom>
            <a:avLst/>
            <a:gdLst/>
            <a:ahLst/>
            <a:cxnLst/>
            <a:rect l="l" t="t" r="r" b="b"/>
            <a:pathLst>
              <a:path w="6852960" h="5825016">
                <a:moveTo>
                  <a:pt x="0" y="0"/>
                </a:moveTo>
                <a:lnTo>
                  <a:pt x="6852960" y="0"/>
                </a:lnTo>
                <a:lnTo>
                  <a:pt x="6852960" y="5825016"/>
                </a:lnTo>
                <a:lnTo>
                  <a:pt x="0" y="5825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466853" y="6820878"/>
            <a:ext cx="5874400" cy="918121"/>
            <a:chOff x="0" y="0"/>
            <a:chExt cx="635000" cy="9924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" cy="99245"/>
            </a:xfrm>
            <a:custGeom>
              <a:avLst/>
              <a:gdLst/>
              <a:ahLst/>
              <a:cxnLst/>
              <a:rect l="l" t="t" r="r" b="b"/>
              <a:pathLst>
                <a:path w="635000" h="99245">
                  <a:moveTo>
                    <a:pt x="25740" y="0"/>
                  </a:moveTo>
                  <a:lnTo>
                    <a:pt x="609260" y="0"/>
                  </a:lnTo>
                  <a:cubicBezTo>
                    <a:pt x="616086" y="0"/>
                    <a:pt x="622634" y="2712"/>
                    <a:pt x="627461" y="7539"/>
                  </a:cubicBezTo>
                  <a:cubicBezTo>
                    <a:pt x="632288" y="12366"/>
                    <a:pt x="635000" y="18914"/>
                    <a:pt x="635000" y="25740"/>
                  </a:cubicBezTo>
                  <a:lnTo>
                    <a:pt x="635000" y="73505"/>
                  </a:lnTo>
                  <a:cubicBezTo>
                    <a:pt x="635000" y="80332"/>
                    <a:pt x="632288" y="86879"/>
                    <a:pt x="627461" y="91706"/>
                  </a:cubicBezTo>
                  <a:cubicBezTo>
                    <a:pt x="622634" y="96533"/>
                    <a:pt x="616086" y="99245"/>
                    <a:pt x="609260" y="99245"/>
                  </a:cubicBezTo>
                  <a:lnTo>
                    <a:pt x="25740" y="99245"/>
                  </a:lnTo>
                  <a:cubicBezTo>
                    <a:pt x="18914" y="99245"/>
                    <a:pt x="12366" y="96533"/>
                    <a:pt x="7539" y="91706"/>
                  </a:cubicBezTo>
                  <a:cubicBezTo>
                    <a:pt x="2712" y="86879"/>
                    <a:pt x="0" y="80332"/>
                    <a:pt x="0" y="73505"/>
                  </a:cubicBezTo>
                  <a:lnTo>
                    <a:pt x="0" y="25740"/>
                  </a:lnTo>
                  <a:cubicBezTo>
                    <a:pt x="0" y="18914"/>
                    <a:pt x="2712" y="12366"/>
                    <a:pt x="7539" y="7539"/>
                  </a:cubicBezTo>
                  <a:cubicBezTo>
                    <a:pt x="12366" y="2712"/>
                    <a:pt x="18914" y="0"/>
                    <a:pt x="25740" y="0"/>
                  </a:cubicBezTo>
                  <a:close/>
                </a:path>
              </a:pathLst>
            </a:custGeom>
            <a:solidFill>
              <a:srgbClr val="F6B9B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635000" cy="1373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520106" y="2758206"/>
            <a:ext cx="11767894" cy="250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04"/>
              </a:lnSpc>
            </a:pPr>
            <a:r>
              <a:rPr lang="en-US" sz="7146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MELANOMA SKIN LESION CLASSIFICATION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3973870" y="4642039"/>
            <a:ext cx="5571202" cy="5803335"/>
          </a:xfrm>
          <a:custGeom>
            <a:avLst/>
            <a:gdLst/>
            <a:ahLst/>
            <a:cxnLst/>
            <a:rect l="l" t="t" r="r" b="b"/>
            <a:pathLst>
              <a:path w="5571202" h="5803335">
                <a:moveTo>
                  <a:pt x="5571201" y="0"/>
                </a:moveTo>
                <a:lnTo>
                  <a:pt x="0" y="0"/>
                </a:lnTo>
                <a:lnTo>
                  <a:pt x="0" y="5803335"/>
                </a:lnTo>
                <a:lnTo>
                  <a:pt x="5571201" y="5803335"/>
                </a:lnTo>
                <a:lnTo>
                  <a:pt x="557120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6520106" y="5317001"/>
            <a:ext cx="11767894" cy="925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455"/>
              </a:lnSpc>
            </a:pPr>
            <a:r>
              <a:rPr lang="en-US" sz="5325">
                <a:solidFill>
                  <a:srgbClr val="000000"/>
                </a:solidFill>
                <a:latin typeface="Ahkio"/>
                <a:ea typeface="Ahkio"/>
                <a:cs typeface="Ahkio"/>
                <a:sym typeface="Ahkio"/>
              </a:rPr>
              <a:t>( A Deep Learning Image Classification System 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93218" y="6968545"/>
            <a:ext cx="4221670" cy="40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5"/>
              </a:lnSpc>
            </a:pPr>
            <a:r>
              <a:rPr lang="en-US" sz="239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By Luna Yahya | BinX Tech 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327105" y="-557973"/>
            <a:ext cx="2925249" cy="3173347"/>
          </a:xfrm>
          <a:custGeom>
            <a:avLst/>
            <a:gdLst/>
            <a:ahLst/>
            <a:cxnLst/>
            <a:rect l="l" t="t" r="r" b="b"/>
            <a:pathLst>
              <a:path w="2925249" h="3173347">
                <a:moveTo>
                  <a:pt x="0" y="0"/>
                </a:moveTo>
                <a:lnTo>
                  <a:pt x="2925249" y="0"/>
                </a:lnTo>
                <a:lnTo>
                  <a:pt x="2925249" y="3173346"/>
                </a:lnTo>
                <a:lnTo>
                  <a:pt x="0" y="31733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-1425065" y="7279938"/>
            <a:ext cx="3469231" cy="3763465"/>
          </a:xfrm>
          <a:custGeom>
            <a:avLst/>
            <a:gdLst/>
            <a:ahLst/>
            <a:cxnLst/>
            <a:rect l="l" t="t" r="r" b="b"/>
            <a:pathLst>
              <a:path w="3469231" h="3763465">
                <a:moveTo>
                  <a:pt x="3469231" y="0"/>
                </a:moveTo>
                <a:lnTo>
                  <a:pt x="0" y="0"/>
                </a:lnTo>
                <a:lnTo>
                  <a:pt x="0" y="3763466"/>
                </a:lnTo>
                <a:lnTo>
                  <a:pt x="3469231" y="3763466"/>
                </a:lnTo>
                <a:lnTo>
                  <a:pt x="346923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4574" y="-303542"/>
            <a:ext cx="1208253" cy="10894083"/>
          </a:xfrm>
          <a:custGeom>
            <a:avLst/>
            <a:gdLst/>
            <a:ahLst/>
            <a:cxnLst/>
            <a:rect l="l" t="t" r="r" b="b"/>
            <a:pathLst>
              <a:path w="1208253" h="10894083">
                <a:moveTo>
                  <a:pt x="0" y="0"/>
                </a:moveTo>
                <a:lnTo>
                  <a:pt x="1208252" y="0"/>
                </a:lnTo>
                <a:lnTo>
                  <a:pt x="1208252" y="10894084"/>
                </a:lnTo>
                <a:lnTo>
                  <a:pt x="0" y="10894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46933" y="3285438"/>
            <a:ext cx="4497063" cy="4513476"/>
          </a:xfrm>
          <a:custGeom>
            <a:avLst/>
            <a:gdLst/>
            <a:ahLst/>
            <a:cxnLst/>
            <a:rect l="l" t="t" r="r" b="b"/>
            <a:pathLst>
              <a:path w="4497063" h="4513476">
                <a:moveTo>
                  <a:pt x="0" y="0"/>
                </a:moveTo>
                <a:lnTo>
                  <a:pt x="4497063" y="0"/>
                </a:lnTo>
                <a:lnTo>
                  <a:pt x="4497063" y="4513476"/>
                </a:lnTo>
                <a:lnTo>
                  <a:pt x="0" y="4513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346933" y="3204523"/>
            <a:ext cx="4150578" cy="415057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228600" cap="sq">
              <a:solidFill>
                <a:srgbClr val="FFE4E7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2459484" y="3681626"/>
            <a:ext cx="9058774" cy="3639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Melanoma is one of the most serious and deadly forms of skin cancer, requiring early and accurate detection.</a:t>
            </a:r>
          </a:p>
          <a:p>
            <a:pPr marL="0" lvl="0" indent="0"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Goal: Classify skin-lesion images as Benign or Malignant using deep learning.</a:t>
            </a:r>
          </a:p>
          <a:p>
            <a:pPr marL="0" lvl="0" indent="0"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The system outputs a malignant probability score to support clinical prediction.</a:t>
            </a:r>
          </a:p>
          <a:p>
            <a:pPr marL="0" lvl="0" indent="0" algn="just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Early classification can significantly improve patient outcomes.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6236523" y="8439189"/>
            <a:ext cx="2508882" cy="1200960"/>
            <a:chOff x="0" y="0"/>
            <a:chExt cx="271200" cy="1298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1201" cy="129819"/>
            </a:xfrm>
            <a:custGeom>
              <a:avLst/>
              <a:gdLst/>
              <a:ahLst/>
              <a:cxnLst/>
              <a:rect l="l" t="t" r="r" b="b"/>
              <a:pathLst>
                <a:path w="271201" h="129819">
                  <a:moveTo>
                    <a:pt x="64910" y="0"/>
                  </a:moveTo>
                  <a:lnTo>
                    <a:pt x="206291" y="0"/>
                  </a:lnTo>
                  <a:cubicBezTo>
                    <a:pt x="223506" y="0"/>
                    <a:pt x="240016" y="6839"/>
                    <a:pt x="252189" y="19012"/>
                  </a:cubicBezTo>
                  <a:cubicBezTo>
                    <a:pt x="264362" y="31184"/>
                    <a:pt x="271201" y="47694"/>
                    <a:pt x="271201" y="64910"/>
                  </a:cubicBezTo>
                  <a:lnTo>
                    <a:pt x="271201" y="64910"/>
                  </a:lnTo>
                  <a:cubicBezTo>
                    <a:pt x="271201" y="100758"/>
                    <a:pt x="242139" y="129819"/>
                    <a:pt x="206291" y="129819"/>
                  </a:cubicBezTo>
                  <a:lnTo>
                    <a:pt x="64910" y="129819"/>
                  </a:lnTo>
                  <a:cubicBezTo>
                    <a:pt x="47694" y="129819"/>
                    <a:pt x="31184" y="122981"/>
                    <a:pt x="19012" y="110808"/>
                  </a:cubicBezTo>
                  <a:cubicBezTo>
                    <a:pt x="6839" y="98635"/>
                    <a:pt x="0" y="82125"/>
                    <a:pt x="0" y="64910"/>
                  </a:cubicBezTo>
                  <a:lnTo>
                    <a:pt x="0" y="64910"/>
                  </a:lnTo>
                  <a:cubicBezTo>
                    <a:pt x="0" y="47694"/>
                    <a:pt x="6839" y="31184"/>
                    <a:pt x="19012" y="19012"/>
                  </a:cubicBezTo>
                  <a:cubicBezTo>
                    <a:pt x="31184" y="6839"/>
                    <a:pt x="47694" y="0"/>
                    <a:pt x="64910" y="0"/>
                  </a:cubicBezTo>
                  <a:close/>
                </a:path>
              </a:pathLst>
            </a:custGeom>
            <a:solidFill>
              <a:srgbClr val="E57E7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1200" cy="167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59484" y="2072592"/>
            <a:ext cx="10492972" cy="121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The Problem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13326" y="8626284"/>
            <a:ext cx="755276" cy="7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75"/>
              </a:lnSpc>
              <a:spcBef>
                <a:spcPct val="0"/>
              </a:spcBef>
            </a:pPr>
            <a:r>
              <a:rPr lang="en-US" sz="4197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02</a:t>
            </a:r>
          </a:p>
        </p:txBody>
      </p:sp>
      <p:sp>
        <p:nvSpPr>
          <p:cNvPr id="12" name="Freeform 12"/>
          <p:cNvSpPr/>
          <p:nvPr/>
        </p:nvSpPr>
        <p:spPr>
          <a:xfrm>
            <a:off x="-860596" y="5829700"/>
            <a:ext cx="4279008" cy="4457300"/>
          </a:xfrm>
          <a:custGeom>
            <a:avLst/>
            <a:gdLst/>
            <a:ahLst/>
            <a:cxnLst/>
            <a:rect l="l" t="t" r="r" b="b"/>
            <a:pathLst>
              <a:path w="4279008" h="4457300">
                <a:moveTo>
                  <a:pt x="0" y="0"/>
                </a:moveTo>
                <a:lnTo>
                  <a:pt x="4279008" y="0"/>
                </a:lnTo>
                <a:lnTo>
                  <a:pt x="4279008" y="4457300"/>
                </a:lnTo>
                <a:lnTo>
                  <a:pt x="0" y="4457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14973822" y="-303542"/>
            <a:ext cx="4279008" cy="4457300"/>
          </a:xfrm>
          <a:custGeom>
            <a:avLst/>
            <a:gdLst/>
            <a:ahLst/>
            <a:cxnLst/>
            <a:rect l="l" t="t" r="r" b="b"/>
            <a:pathLst>
              <a:path w="4279008" h="4457300">
                <a:moveTo>
                  <a:pt x="4279008" y="4457300"/>
                </a:moveTo>
                <a:lnTo>
                  <a:pt x="0" y="4457300"/>
                </a:lnTo>
                <a:lnTo>
                  <a:pt x="0" y="0"/>
                </a:lnTo>
                <a:lnTo>
                  <a:pt x="4279008" y="0"/>
                </a:lnTo>
                <a:lnTo>
                  <a:pt x="4279008" y="44573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36523" y="8439189"/>
            <a:ext cx="2508882" cy="1200960"/>
            <a:chOff x="0" y="0"/>
            <a:chExt cx="271200" cy="129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1201" cy="129819"/>
            </a:xfrm>
            <a:custGeom>
              <a:avLst/>
              <a:gdLst/>
              <a:ahLst/>
              <a:cxnLst/>
              <a:rect l="l" t="t" r="r" b="b"/>
              <a:pathLst>
                <a:path w="271201" h="129819">
                  <a:moveTo>
                    <a:pt x="64910" y="0"/>
                  </a:moveTo>
                  <a:lnTo>
                    <a:pt x="206291" y="0"/>
                  </a:lnTo>
                  <a:cubicBezTo>
                    <a:pt x="223506" y="0"/>
                    <a:pt x="240016" y="6839"/>
                    <a:pt x="252189" y="19012"/>
                  </a:cubicBezTo>
                  <a:cubicBezTo>
                    <a:pt x="264362" y="31184"/>
                    <a:pt x="271201" y="47694"/>
                    <a:pt x="271201" y="64910"/>
                  </a:cubicBezTo>
                  <a:lnTo>
                    <a:pt x="271201" y="64910"/>
                  </a:lnTo>
                  <a:cubicBezTo>
                    <a:pt x="271201" y="100758"/>
                    <a:pt x="242139" y="129819"/>
                    <a:pt x="206291" y="129819"/>
                  </a:cubicBezTo>
                  <a:lnTo>
                    <a:pt x="64910" y="129819"/>
                  </a:lnTo>
                  <a:cubicBezTo>
                    <a:pt x="47694" y="129819"/>
                    <a:pt x="31184" y="122981"/>
                    <a:pt x="19012" y="110808"/>
                  </a:cubicBezTo>
                  <a:cubicBezTo>
                    <a:pt x="6839" y="98635"/>
                    <a:pt x="0" y="82125"/>
                    <a:pt x="0" y="64910"/>
                  </a:cubicBezTo>
                  <a:lnTo>
                    <a:pt x="0" y="64910"/>
                  </a:lnTo>
                  <a:cubicBezTo>
                    <a:pt x="0" y="47694"/>
                    <a:pt x="6839" y="31184"/>
                    <a:pt x="19012" y="19012"/>
                  </a:cubicBezTo>
                  <a:cubicBezTo>
                    <a:pt x="31184" y="6839"/>
                    <a:pt x="47694" y="0"/>
                    <a:pt x="64910" y="0"/>
                  </a:cubicBezTo>
                  <a:close/>
                </a:path>
              </a:pathLst>
            </a:custGeom>
            <a:solidFill>
              <a:srgbClr val="E57E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1200" cy="167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13397" y="3082449"/>
            <a:ext cx="4497063" cy="4513476"/>
          </a:xfrm>
          <a:custGeom>
            <a:avLst/>
            <a:gdLst/>
            <a:ahLst/>
            <a:cxnLst/>
            <a:rect l="l" t="t" r="r" b="b"/>
            <a:pathLst>
              <a:path w="4497063" h="4513476">
                <a:moveTo>
                  <a:pt x="0" y="0"/>
                </a:moveTo>
                <a:lnTo>
                  <a:pt x="4497063" y="0"/>
                </a:lnTo>
                <a:lnTo>
                  <a:pt x="4497063" y="4513476"/>
                </a:lnTo>
                <a:lnTo>
                  <a:pt x="0" y="45134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313397" y="3001534"/>
            <a:ext cx="4150578" cy="415057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  <a:ln w="228600" cap="sq">
              <a:solidFill>
                <a:srgbClr val="FFE4E7"/>
              </a:solidFill>
              <a:prstDash val="solid"/>
              <a:miter/>
            </a:ln>
          </p:spPr>
        </p:sp>
      </p:grpSp>
      <p:sp>
        <p:nvSpPr>
          <p:cNvPr id="8" name="Freeform 8"/>
          <p:cNvSpPr/>
          <p:nvPr/>
        </p:nvSpPr>
        <p:spPr>
          <a:xfrm>
            <a:off x="15796676" y="-193872"/>
            <a:ext cx="2925249" cy="3173347"/>
          </a:xfrm>
          <a:custGeom>
            <a:avLst/>
            <a:gdLst/>
            <a:ahLst/>
            <a:cxnLst/>
            <a:rect l="l" t="t" r="r" b="b"/>
            <a:pathLst>
              <a:path w="2925249" h="3173347">
                <a:moveTo>
                  <a:pt x="0" y="0"/>
                </a:moveTo>
                <a:lnTo>
                  <a:pt x="2925248" y="0"/>
                </a:lnTo>
                <a:lnTo>
                  <a:pt x="2925248" y="3173347"/>
                </a:lnTo>
                <a:lnTo>
                  <a:pt x="0" y="31733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257329" y="3284275"/>
            <a:ext cx="9812789" cy="1835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96"/>
              </a:lnSpc>
            </a:pPr>
            <a:r>
              <a:rPr lang="en-US" sz="34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Two classes: Benign and Malignant. Evaluation set contains 2,000 images, evenly balanced — 1,000 Benign and 1,000 Malignant samples.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97992" y="1788688"/>
            <a:ext cx="10492972" cy="121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Dataset Overview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13326" y="8626284"/>
            <a:ext cx="755276" cy="7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75"/>
              </a:lnSpc>
              <a:spcBef>
                <a:spcPct val="0"/>
              </a:spcBef>
            </a:pPr>
            <a:r>
              <a:rPr lang="en-US" sz="4197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57329" y="5891637"/>
            <a:ext cx="9812789" cy="245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896"/>
              </a:lnSpc>
            </a:pPr>
            <a:r>
              <a:rPr lang="en-US" sz="34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Consistent preprocessing and careful evaluation are essential. Image classification requires standardized pipelines to ensure reliable and reproducible results.</a:t>
            </a:r>
          </a:p>
        </p:txBody>
      </p:sp>
      <p:sp>
        <p:nvSpPr>
          <p:cNvPr id="13" name="Freeform 13"/>
          <p:cNvSpPr/>
          <p:nvPr/>
        </p:nvSpPr>
        <p:spPr>
          <a:xfrm flipH="1">
            <a:off x="-433924" y="8053476"/>
            <a:ext cx="2925249" cy="3173347"/>
          </a:xfrm>
          <a:custGeom>
            <a:avLst/>
            <a:gdLst/>
            <a:ahLst/>
            <a:cxnLst/>
            <a:rect l="l" t="t" r="r" b="b"/>
            <a:pathLst>
              <a:path w="2925249" h="3173347">
                <a:moveTo>
                  <a:pt x="2925248" y="0"/>
                </a:moveTo>
                <a:lnTo>
                  <a:pt x="0" y="0"/>
                </a:lnTo>
                <a:lnTo>
                  <a:pt x="0" y="3173346"/>
                </a:lnTo>
                <a:lnTo>
                  <a:pt x="2925248" y="3173346"/>
                </a:lnTo>
                <a:lnTo>
                  <a:pt x="292524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4574" y="-303542"/>
            <a:ext cx="1208253" cy="10894083"/>
          </a:xfrm>
          <a:custGeom>
            <a:avLst/>
            <a:gdLst/>
            <a:ahLst/>
            <a:cxnLst/>
            <a:rect l="l" t="t" r="r" b="b"/>
            <a:pathLst>
              <a:path w="1208253" h="10894083">
                <a:moveTo>
                  <a:pt x="0" y="0"/>
                </a:moveTo>
                <a:lnTo>
                  <a:pt x="1208252" y="0"/>
                </a:lnTo>
                <a:lnTo>
                  <a:pt x="1208252" y="10894084"/>
                </a:lnTo>
                <a:lnTo>
                  <a:pt x="0" y="10894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236523" y="8439189"/>
            <a:ext cx="2508882" cy="1200960"/>
            <a:chOff x="0" y="0"/>
            <a:chExt cx="271200" cy="1298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1201" cy="129819"/>
            </a:xfrm>
            <a:custGeom>
              <a:avLst/>
              <a:gdLst/>
              <a:ahLst/>
              <a:cxnLst/>
              <a:rect l="l" t="t" r="r" b="b"/>
              <a:pathLst>
                <a:path w="271201" h="129819">
                  <a:moveTo>
                    <a:pt x="64910" y="0"/>
                  </a:moveTo>
                  <a:lnTo>
                    <a:pt x="206291" y="0"/>
                  </a:lnTo>
                  <a:cubicBezTo>
                    <a:pt x="223506" y="0"/>
                    <a:pt x="240016" y="6839"/>
                    <a:pt x="252189" y="19012"/>
                  </a:cubicBezTo>
                  <a:cubicBezTo>
                    <a:pt x="264362" y="31184"/>
                    <a:pt x="271201" y="47694"/>
                    <a:pt x="271201" y="64910"/>
                  </a:cubicBezTo>
                  <a:lnTo>
                    <a:pt x="271201" y="64910"/>
                  </a:lnTo>
                  <a:cubicBezTo>
                    <a:pt x="271201" y="100758"/>
                    <a:pt x="242139" y="129819"/>
                    <a:pt x="206291" y="129819"/>
                  </a:cubicBezTo>
                  <a:lnTo>
                    <a:pt x="64910" y="129819"/>
                  </a:lnTo>
                  <a:cubicBezTo>
                    <a:pt x="47694" y="129819"/>
                    <a:pt x="31184" y="122981"/>
                    <a:pt x="19012" y="110808"/>
                  </a:cubicBezTo>
                  <a:cubicBezTo>
                    <a:pt x="6839" y="98635"/>
                    <a:pt x="0" y="82125"/>
                    <a:pt x="0" y="64910"/>
                  </a:cubicBezTo>
                  <a:lnTo>
                    <a:pt x="0" y="64910"/>
                  </a:lnTo>
                  <a:cubicBezTo>
                    <a:pt x="0" y="47694"/>
                    <a:pt x="6839" y="31184"/>
                    <a:pt x="19012" y="19012"/>
                  </a:cubicBezTo>
                  <a:cubicBezTo>
                    <a:pt x="31184" y="6839"/>
                    <a:pt x="47694" y="0"/>
                    <a:pt x="64910" y="0"/>
                  </a:cubicBezTo>
                  <a:close/>
                </a:path>
              </a:pathLst>
            </a:custGeom>
            <a:solidFill>
              <a:srgbClr val="E57E7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1200" cy="167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98619" y="3729662"/>
            <a:ext cx="7510800" cy="5752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IInput Image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↓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OpenCV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↓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RGB Conversion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↓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128 × 128 Resize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↓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Normalization /255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↓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CNN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↓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Malignant Probability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↓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Threshold = 0.35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↓</a:t>
            </a:r>
          </a:p>
          <a:p>
            <a:pPr marL="0" lvl="0" indent="0" algn="just">
              <a:lnSpc>
                <a:spcPts val="2677"/>
              </a:lnSpc>
              <a:spcBef>
                <a:spcPct val="0"/>
              </a:spcBef>
            </a:pPr>
            <a:r>
              <a:rPr lang="en-US" sz="1912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Benign / Malignant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34776" y="1307016"/>
            <a:ext cx="8759156" cy="2451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From Image</a:t>
            </a:r>
          </a:p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to Prediction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13326" y="8626284"/>
            <a:ext cx="755276" cy="7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75"/>
              </a:lnSpc>
              <a:spcBef>
                <a:spcPct val="0"/>
              </a:spcBef>
            </a:pPr>
            <a:r>
              <a:rPr lang="en-US" sz="4197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04</a:t>
            </a:r>
          </a:p>
        </p:txBody>
      </p:sp>
      <p:sp>
        <p:nvSpPr>
          <p:cNvPr id="9" name="Freeform 9"/>
          <p:cNvSpPr/>
          <p:nvPr/>
        </p:nvSpPr>
        <p:spPr>
          <a:xfrm>
            <a:off x="-860596" y="5829700"/>
            <a:ext cx="4279008" cy="4457300"/>
          </a:xfrm>
          <a:custGeom>
            <a:avLst/>
            <a:gdLst/>
            <a:ahLst/>
            <a:cxnLst/>
            <a:rect l="l" t="t" r="r" b="b"/>
            <a:pathLst>
              <a:path w="4279008" h="4457300">
                <a:moveTo>
                  <a:pt x="0" y="0"/>
                </a:moveTo>
                <a:lnTo>
                  <a:pt x="4279008" y="0"/>
                </a:lnTo>
                <a:lnTo>
                  <a:pt x="4279008" y="4457300"/>
                </a:lnTo>
                <a:lnTo>
                  <a:pt x="0" y="4457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4973822" y="-303542"/>
            <a:ext cx="4279008" cy="4457300"/>
          </a:xfrm>
          <a:custGeom>
            <a:avLst/>
            <a:gdLst/>
            <a:ahLst/>
            <a:cxnLst/>
            <a:rect l="l" t="t" r="r" b="b"/>
            <a:pathLst>
              <a:path w="4279008" h="4457300">
                <a:moveTo>
                  <a:pt x="4279008" y="4457300"/>
                </a:moveTo>
                <a:lnTo>
                  <a:pt x="0" y="4457300"/>
                </a:lnTo>
                <a:lnTo>
                  <a:pt x="0" y="0"/>
                </a:lnTo>
                <a:lnTo>
                  <a:pt x="4279008" y="0"/>
                </a:lnTo>
                <a:lnTo>
                  <a:pt x="4279008" y="44573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75211" y="5241111"/>
            <a:ext cx="4838115" cy="2181550"/>
          </a:xfrm>
          <a:custGeom>
            <a:avLst/>
            <a:gdLst/>
            <a:ahLst/>
            <a:cxnLst/>
            <a:rect l="l" t="t" r="r" b="b"/>
            <a:pathLst>
              <a:path w="4838115" h="2181550">
                <a:moveTo>
                  <a:pt x="0" y="0"/>
                </a:moveTo>
                <a:lnTo>
                  <a:pt x="4838115" y="0"/>
                </a:lnTo>
                <a:lnTo>
                  <a:pt x="4838115" y="2181550"/>
                </a:lnTo>
                <a:lnTo>
                  <a:pt x="0" y="21815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303346" y="4011226"/>
            <a:ext cx="4531548" cy="3109775"/>
          </a:xfrm>
          <a:custGeom>
            <a:avLst/>
            <a:gdLst/>
            <a:ahLst/>
            <a:cxnLst/>
            <a:rect l="l" t="t" r="r" b="b"/>
            <a:pathLst>
              <a:path w="4531548" h="3109775">
                <a:moveTo>
                  <a:pt x="0" y="0"/>
                </a:moveTo>
                <a:lnTo>
                  <a:pt x="4531549" y="0"/>
                </a:lnTo>
                <a:lnTo>
                  <a:pt x="4531549" y="3109775"/>
                </a:lnTo>
                <a:lnTo>
                  <a:pt x="0" y="31097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4574" y="-303542"/>
            <a:ext cx="1208253" cy="10894083"/>
          </a:xfrm>
          <a:custGeom>
            <a:avLst/>
            <a:gdLst/>
            <a:ahLst/>
            <a:cxnLst/>
            <a:rect l="l" t="t" r="r" b="b"/>
            <a:pathLst>
              <a:path w="1208253" h="10894083">
                <a:moveTo>
                  <a:pt x="0" y="0"/>
                </a:moveTo>
                <a:lnTo>
                  <a:pt x="1208252" y="0"/>
                </a:lnTo>
                <a:lnTo>
                  <a:pt x="1208252" y="10894084"/>
                </a:lnTo>
                <a:lnTo>
                  <a:pt x="0" y="10894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236523" y="8439189"/>
            <a:ext cx="2508882" cy="1200960"/>
            <a:chOff x="0" y="0"/>
            <a:chExt cx="271200" cy="1298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1201" cy="129819"/>
            </a:xfrm>
            <a:custGeom>
              <a:avLst/>
              <a:gdLst/>
              <a:ahLst/>
              <a:cxnLst/>
              <a:rect l="l" t="t" r="r" b="b"/>
              <a:pathLst>
                <a:path w="271201" h="129819">
                  <a:moveTo>
                    <a:pt x="64910" y="0"/>
                  </a:moveTo>
                  <a:lnTo>
                    <a:pt x="206291" y="0"/>
                  </a:lnTo>
                  <a:cubicBezTo>
                    <a:pt x="223506" y="0"/>
                    <a:pt x="240016" y="6839"/>
                    <a:pt x="252189" y="19012"/>
                  </a:cubicBezTo>
                  <a:cubicBezTo>
                    <a:pt x="264362" y="31184"/>
                    <a:pt x="271201" y="47694"/>
                    <a:pt x="271201" y="64910"/>
                  </a:cubicBezTo>
                  <a:lnTo>
                    <a:pt x="271201" y="64910"/>
                  </a:lnTo>
                  <a:cubicBezTo>
                    <a:pt x="271201" y="100758"/>
                    <a:pt x="242139" y="129819"/>
                    <a:pt x="206291" y="129819"/>
                  </a:cubicBezTo>
                  <a:lnTo>
                    <a:pt x="64910" y="129819"/>
                  </a:lnTo>
                  <a:cubicBezTo>
                    <a:pt x="47694" y="129819"/>
                    <a:pt x="31184" y="122981"/>
                    <a:pt x="19012" y="110808"/>
                  </a:cubicBezTo>
                  <a:cubicBezTo>
                    <a:pt x="6839" y="98635"/>
                    <a:pt x="0" y="82125"/>
                    <a:pt x="0" y="64910"/>
                  </a:cubicBezTo>
                  <a:lnTo>
                    <a:pt x="0" y="64910"/>
                  </a:lnTo>
                  <a:cubicBezTo>
                    <a:pt x="0" y="47694"/>
                    <a:pt x="6839" y="31184"/>
                    <a:pt x="19012" y="19012"/>
                  </a:cubicBezTo>
                  <a:cubicBezTo>
                    <a:pt x="31184" y="6839"/>
                    <a:pt x="47694" y="0"/>
                    <a:pt x="64910" y="0"/>
                  </a:cubicBezTo>
                  <a:close/>
                </a:path>
              </a:pathLst>
            </a:custGeom>
            <a:solidFill>
              <a:srgbClr val="E57E7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1200" cy="167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20578" y="2640508"/>
            <a:ext cx="12296759" cy="668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88"/>
              </a:lnSpc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End-to-End Pipeline</a:t>
            </a:r>
          </a:p>
          <a:p>
            <a:pPr marL="0" lvl="0" indent="0" algn="just">
              <a:lnSpc>
                <a:spcPts val="3588"/>
              </a:lnSpc>
              <a:spcBef>
                <a:spcPct val="0"/>
              </a:spcBef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Preprocessing</a:t>
            </a:r>
          </a:p>
          <a:p>
            <a:pPr marL="553396" lvl="1" indent="-276698" algn="just">
              <a:lnSpc>
                <a:spcPts val="3588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Image decoding</a:t>
            </a:r>
          </a:p>
          <a:p>
            <a:pPr marL="553396" lvl="1" indent="-276698" algn="just">
              <a:lnSpc>
                <a:spcPts val="3588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RGB conversion</a:t>
            </a:r>
          </a:p>
          <a:p>
            <a:pPr marL="553396" lvl="1" indent="-276698" algn="just">
              <a:lnSpc>
                <a:spcPts val="3588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Resize → 128×128</a:t>
            </a:r>
          </a:p>
          <a:p>
            <a:pPr marL="553396" lvl="1" indent="-276698" algn="just">
              <a:lnSpc>
                <a:spcPts val="3588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Normalization</a:t>
            </a:r>
          </a:p>
          <a:p>
            <a:pPr marL="0" lvl="0" indent="0" algn="just">
              <a:lnSpc>
                <a:spcPts val="3588"/>
              </a:lnSpc>
              <a:spcBef>
                <a:spcPct val="0"/>
              </a:spcBef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Model</a:t>
            </a:r>
          </a:p>
          <a:p>
            <a:pPr marL="553396" lvl="1" indent="-276698" algn="just">
              <a:lnSpc>
                <a:spcPts val="3588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CNN</a:t>
            </a:r>
          </a:p>
          <a:p>
            <a:pPr marL="553396" lvl="1" indent="-276698" algn="just">
              <a:lnSpc>
                <a:spcPts val="3588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Binary classification</a:t>
            </a:r>
          </a:p>
          <a:p>
            <a:pPr marL="553396" lvl="1" indent="-276698" algn="just">
              <a:lnSpc>
                <a:spcPts val="3588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Trained model: melanoma_cnn.keras</a:t>
            </a:r>
          </a:p>
          <a:p>
            <a:pPr marL="0" lvl="0" indent="0" algn="just">
              <a:lnSpc>
                <a:spcPts val="3588"/>
              </a:lnSpc>
              <a:spcBef>
                <a:spcPct val="0"/>
              </a:spcBef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Post-processing</a:t>
            </a:r>
          </a:p>
          <a:p>
            <a:pPr marL="553396" lvl="1" indent="-276698" algn="just">
              <a:lnSpc>
                <a:spcPts val="3588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Probability</a:t>
            </a:r>
          </a:p>
          <a:p>
            <a:pPr marL="553396" lvl="1" indent="-276698" algn="just">
              <a:lnSpc>
                <a:spcPts val="3588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Classification threshold</a:t>
            </a:r>
          </a:p>
          <a:p>
            <a:pPr marL="553396" lvl="1" indent="-276698" algn="just">
              <a:lnSpc>
                <a:spcPts val="3588"/>
              </a:lnSpc>
              <a:spcBef>
                <a:spcPct val="0"/>
              </a:spcBef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Final prediction</a:t>
            </a:r>
          </a:p>
          <a:p>
            <a:pPr marL="0" lvl="0" indent="0" algn="just">
              <a:lnSpc>
                <a:spcPts val="3588"/>
              </a:lnSpc>
              <a:spcBef>
                <a:spcPct val="0"/>
              </a:spcBef>
            </a:pPr>
            <a:endParaRPr lang="en-US" sz="2563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96567" y="1100312"/>
            <a:ext cx="10492972" cy="121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Model &amp; Methodology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13326" y="8626284"/>
            <a:ext cx="755276" cy="7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75"/>
              </a:lnSpc>
              <a:spcBef>
                <a:spcPct val="0"/>
              </a:spcBef>
            </a:pPr>
            <a:r>
              <a:rPr lang="en-US" sz="4197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05</a:t>
            </a:r>
          </a:p>
        </p:txBody>
      </p:sp>
      <p:sp>
        <p:nvSpPr>
          <p:cNvPr id="9" name="Freeform 9"/>
          <p:cNvSpPr/>
          <p:nvPr/>
        </p:nvSpPr>
        <p:spPr>
          <a:xfrm>
            <a:off x="16698889" y="-562999"/>
            <a:ext cx="2339427" cy="2537840"/>
          </a:xfrm>
          <a:custGeom>
            <a:avLst/>
            <a:gdLst/>
            <a:ahLst/>
            <a:cxnLst/>
            <a:rect l="l" t="t" r="r" b="b"/>
            <a:pathLst>
              <a:path w="2339427" h="2537840">
                <a:moveTo>
                  <a:pt x="0" y="0"/>
                </a:moveTo>
                <a:lnTo>
                  <a:pt x="2339427" y="0"/>
                </a:lnTo>
                <a:lnTo>
                  <a:pt x="2339427" y="2537840"/>
                </a:lnTo>
                <a:lnTo>
                  <a:pt x="0" y="2537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-724629" y="7741954"/>
            <a:ext cx="2925249" cy="3173347"/>
          </a:xfrm>
          <a:custGeom>
            <a:avLst/>
            <a:gdLst/>
            <a:ahLst/>
            <a:cxnLst/>
            <a:rect l="l" t="t" r="r" b="b"/>
            <a:pathLst>
              <a:path w="2925249" h="3173347">
                <a:moveTo>
                  <a:pt x="2925248" y="0"/>
                </a:moveTo>
                <a:lnTo>
                  <a:pt x="0" y="0"/>
                </a:lnTo>
                <a:lnTo>
                  <a:pt x="0" y="3173347"/>
                </a:lnTo>
                <a:lnTo>
                  <a:pt x="2925248" y="3173347"/>
                </a:lnTo>
                <a:lnTo>
                  <a:pt x="292524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520578" y="9271477"/>
            <a:ext cx="12296759" cy="504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7"/>
              </a:lnSpc>
              <a:spcBef>
                <a:spcPct val="0"/>
              </a:spcBef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Seed = 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4574" y="-303542"/>
            <a:ext cx="1208253" cy="10894083"/>
          </a:xfrm>
          <a:custGeom>
            <a:avLst/>
            <a:gdLst/>
            <a:ahLst/>
            <a:cxnLst/>
            <a:rect l="l" t="t" r="r" b="b"/>
            <a:pathLst>
              <a:path w="1208253" h="10894083">
                <a:moveTo>
                  <a:pt x="0" y="0"/>
                </a:moveTo>
                <a:lnTo>
                  <a:pt x="1208252" y="0"/>
                </a:lnTo>
                <a:lnTo>
                  <a:pt x="1208252" y="10894084"/>
                </a:lnTo>
                <a:lnTo>
                  <a:pt x="0" y="10894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236523" y="8439189"/>
            <a:ext cx="2508882" cy="1200960"/>
            <a:chOff x="0" y="0"/>
            <a:chExt cx="271200" cy="1298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1201" cy="129819"/>
            </a:xfrm>
            <a:custGeom>
              <a:avLst/>
              <a:gdLst/>
              <a:ahLst/>
              <a:cxnLst/>
              <a:rect l="l" t="t" r="r" b="b"/>
              <a:pathLst>
                <a:path w="271201" h="129819">
                  <a:moveTo>
                    <a:pt x="64910" y="0"/>
                  </a:moveTo>
                  <a:lnTo>
                    <a:pt x="206291" y="0"/>
                  </a:lnTo>
                  <a:cubicBezTo>
                    <a:pt x="223506" y="0"/>
                    <a:pt x="240016" y="6839"/>
                    <a:pt x="252189" y="19012"/>
                  </a:cubicBezTo>
                  <a:cubicBezTo>
                    <a:pt x="264362" y="31184"/>
                    <a:pt x="271201" y="47694"/>
                    <a:pt x="271201" y="64910"/>
                  </a:cubicBezTo>
                  <a:lnTo>
                    <a:pt x="271201" y="64910"/>
                  </a:lnTo>
                  <a:cubicBezTo>
                    <a:pt x="271201" y="100758"/>
                    <a:pt x="242139" y="129819"/>
                    <a:pt x="206291" y="129819"/>
                  </a:cubicBezTo>
                  <a:lnTo>
                    <a:pt x="64910" y="129819"/>
                  </a:lnTo>
                  <a:cubicBezTo>
                    <a:pt x="47694" y="129819"/>
                    <a:pt x="31184" y="122981"/>
                    <a:pt x="19012" y="110808"/>
                  </a:cubicBezTo>
                  <a:cubicBezTo>
                    <a:pt x="6839" y="98635"/>
                    <a:pt x="0" y="82125"/>
                    <a:pt x="0" y="64910"/>
                  </a:cubicBezTo>
                  <a:lnTo>
                    <a:pt x="0" y="64910"/>
                  </a:lnTo>
                  <a:cubicBezTo>
                    <a:pt x="0" y="47694"/>
                    <a:pt x="6839" y="31184"/>
                    <a:pt x="19012" y="19012"/>
                  </a:cubicBezTo>
                  <a:cubicBezTo>
                    <a:pt x="31184" y="6839"/>
                    <a:pt x="47694" y="0"/>
                    <a:pt x="64910" y="0"/>
                  </a:cubicBezTo>
                  <a:close/>
                </a:path>
              </a:pathLst>
            </a:custGeom>
            <a:solidFill>
              <a:srgbClr val="E57E7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1200" cy="167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79022" y="3561069"/>
            <a:ext cx="6785895" cy="1552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Accuracy: 87.55%</a:t>
            </a:r>
          </a:p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Malignant Precision: 92.43%</a:t>
            </a:r>
          </a:p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Malignant Recall: 81.80%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98811" y="2011057"/>
            <a:ext cx="5089642" cy="121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Threshold 0.50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13326" y="8626284"/>
            <a:ext cx="755276" cy="7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75"/>
              </a:lnSpc>
              <a:spcBef>
                <a:spcPct val="0"/>
              </a:spcBef>
            </a:pPr>
            <a:r>
              <a:rPr lang="en-US" sz="4197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06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79022" y="6008994"/>
            <a:ext cx="6785895" cy="102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Malignant F1 Score: 86.79%</a:t>
            </a:r>
          </a:p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False Negatives: 182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26967" y="3561069"/>
            <a:ext cx="6785895" cy="102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ROC-AUC: 95.17%</a:t>
            </a:r>
          </a:p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PR-AUC: 94.45%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46756" y="2011057"/>
            <a:ext cx="5089642" cy="121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Key Metrics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26967" y="6008994"/>
            <a:ext cx="6785895" cy="207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Strong precision at default threshold. High AUC scores confirm excellent discriminative ability across all classification boundaries.</a:t>
            </a:r>
          </a:p>
        </p:txBody>
      </p:sp>
      <p:sp>
        <p:nvSpPr>
          <p:cNvPr id="13" name="Freeform 13"/>
          <p:cNvSpPr/>
          <p:nvPr/>
        </p:nvSpPr>
        <p:spPr>
          <a:xfrm rot="-1689277" flipH="1">
            <a:off x="-559322" y="8162044"/>
            <a:ext cx="2204546" cy="2391519"/>
          </a:xfrm>
          <a:custGeom>
            <a:avLst/>
            <a:gdLst/>
            <a:ahLst/>
            <a:cxnLst/>
            <a:rect l="l" t="t" r="r" b="b"/>
            <a:pathLst>
              <a:path w="2204546" h="2391519">
                <a:moveTo>
                  <a:pt x="2204546" y="0"/>
                </a:moveTo>
                <a:lnTo>
                  <a:pt x="0" y="0"/>
                </a:lnTo>
                <a:lnTo>
                  <a:pt x="0" y="2391519"/>
                </a:lnTo>
                <a:lnTo>
                  <a:pt x="2204546" y="2391519"/>
                </a:lnTo>
                <a:lnTo>
                  <a:pt x="22045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689277" flipH="1">
            <a:off x="16266910" y="-585702"/>
            <a:ext cx="2187845" cy="2373402"/>
          </a:xfrm>
          <a:custGeom>
            <a:avLst/>
            <a:gdLst/>
            <a:ahLst/>
            <a:cxnLst/>
            <a:rect l="l" t="t" r="r" b="b"/>
            <a:pathLst>
              <a:path w="2187845" h="2373402">
                <a:moveTo>
                  <a:pt x="2187845" y="0"/>
                </a:moveTo>
                <a:lnTo>
                  <a:pt x="0" y="0"/>
                </a:lnTo>
                <a:lnTo>
                  <a:pt x="0" y="2373402"/>
                </a:lnTo>
                <a:lnTo>
                  <a:pt x="2187845" y="2373402"/>
                </a:lnTo>
                <a:lnTo>
                  <a:pt x="21878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4574" y="-303542"/>
            <a:ext cx="1208253" cy="10894083"/>
          </a:xfrm>
          <a:custGeom>
            <a:avLst/>
            <a:gdLst/>
            <a:ahLst/>
            <a:cxnLst/>
            <a:rect l="l" t="t" r="r" b="b"/>
            <a:pathLst>
              <a:path w="1208253" h="10894083">
                <a:moveTo>
                  <a:pt x="0" y="0"/>
                </a:moveTo>
                <a:lnTo>
                  <a:pt x="1208252" y="0"/>
                </a:lnTo>
                <a:lnTo>
                  <a:pt x="1208252" y="10894084"/>
                </a:lnTo>
                <a:lnTo>
                  <a:pt x="0" y="10894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236523" y="8439189"/>
            <a:ext cx="2508882" cy="1200960"/>
            <a:chOff x="0" y="0"/>
            <a:chExt cx="271200" cy="1298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1201" cy="129819"/>
            </a:xfrm>
            <a:custGeom>
              <a:avLst/>
              <a:gdLst/>
              <a:ahLst/>
              <a:cxnLst/>
              <a:rect l="l" t="t" r="r" b="b"/>
              <a:pathLst>
                <a:path w="271201" h="129819">
                  <a:moveTo>
                    <a:pt x="64910" y="0"/>
                  </a:moveTo>
                  <a:lnTo>
                    <a:pt x="206291" y="0"/>
                  </a:lnTo>
                  <a:cubicBezTo>
                    <a:pt x="223506" y="0"/>
                    <a:pt x="240016" y="6839"/>
                    <a:pt x="252189" y="19012"/>
                  </a:cubicBezTo>
                  <a:cubicBezTo>
                    <a:pt x="264362" y="31184"/>
                    <a:pt x="271201" y="47694"/>
                    <a:pt x="271201" y="64910"/>
                  </a:cubicBezTo>
                  <a:lnTo>
                    <a:pt x="271201" y="64910"/>
                  </a:lnTo>
                  <a:cubicBezTo>
                    <a:pt x="271201" y="100758"/>
                    <a:pt x="242139" y="129819"/>
                    <a:pt x="206291" y="129819"/>
                  </a:cubicBezTo>
                  <a:lnTo>
                    <a:pt x="64910" y="129819"/>
                  </a:lnTo>
                  <a:cubicBezTo>
                    <a:pt x="47694" y="129819"/>
                    <a:pt x="31184" y="122981"/>
                    <a:pt x="19012" y="110808"/>
                  </a:cubicBezTo>
                  <a:cubicBezTo>
                    <a:pt x="6839" y="98635"/>
                    <a:pt x="0" y="82125"/>
                    <a:pt x="0" y="64910"/>
                  </a:cubicBezTo>
                  <a:lnTo>
                    <a:pt x="0" y="64910"/>
                  </a:lnTo>
                  <a:cubicBezTo>
                    <a:pt x="0" y="47694"/>
                    <a:pt x="6839" y="31184"/>
                    <a:pt x="19012" y="19012"/>
                  </a:cubicBezTo>
                  <a:cubicBezTo>
                    <a:pt x="31184" y="6839"/>
                    <a:pt x="47694" y="0"/>
                    <a:pt x="64910" y="0"/>
                  </a:cubicBezTo>
                  <a:close/>
                </a:path>
              </a:pathLst>
            </a:custGeom>
            <a:solidFill>
              <a:srgbClr val="E57E7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1200" cy="167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79022" y="3561069"/>
            <a:ext cx="6785895" cy="207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Accuracy: 87.55%</a:t>
            </a:r>
          </a:p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Precision: 92.43%</a:t>
            </a:r>
          </a:p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Recall: 81.80%</a:t>
            </a:r>
          </a:p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F1 Score: 86.79%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98811" y="2011057"/>
            <a:ext cx="5089642" cy="121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Threshold 0.50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13326" y="8626284"/>
            <a:ext cx="755276" cy="7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75"/>
              </a:lnSpc>
              <a:spcBef>
                <a:spcPct val="0"/>
              </a:spcBef>
            </a:pPr>
            <a:r>
              <a:rPr lang="en-US" sz="4197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07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79022" y="6008994"/>
            <a:ext cx="6785895" cy="102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False Negatives: 182</a:t>
            </a:r>
          </a:p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False Positives: 67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26967" y="3561069"/>
            <a:ext cx="6785895" cy="2076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Accuracy: 89.15% ↑</a:t>
            </a:r>
          </a:p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Precision: 87.46% ↓</a:t>
            </a:r>
          </a:p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Recall: 91.40% ↑</a:t>
            </a:r>
          </a:p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F1 Score: 89.39% 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46756" y="2011057"/>
            <a:ext cx="5089642" cy="121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Threshold 0.35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026967" y="6008994"/>
            <a:ext cx="6785895" cy="1028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False Negatives: 86 ↓</a:t>
            </a:r>
          </a:p>
          <a:p>
            <a:pPr marL="0" lvl="0" indent="0" algn="l">
              <a:lnSpc>
                <a:spcPts val="4197"/>
              </a:lnSpc>
            </a:pPr>
            <a:r>
              <a:rPr lang="en-US" sz="299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False Positives: 131 ↑</a:t>
            </a:r>
          </a:p>
        </p:txBody>
      </p:sp>
      <p:sp>
        <p:nvSpPr>
          <p:cNvPr id="13" name="Freeform 13"/>
          <p:cNvSpPr/>
          <p:nvPr/>
        </p:nvSpPr>
        <p:spPr>
          <a:xfrm rot="-1689277" flipH="1">
            <a:off x="-559322" y="8162044"/>
            <a:ext cx="2204546" cy="2391519"/>
          </a:xfrm>
          <a:custGeom>
            <a:avLst/>
            <a:gdLst/>
            <a:ahLst/>
            <a:cxnLst/>
            <a:rect l="l" t="t" r="r" b="b"/>
            <a:pathLst>
              <a:path w="2204546" h="2391519">
                <a:moveTo>
                  <a:pt x="2204546" y="0"/>
                </a:moveTo>
                <a:lnTo>
                  <a:pt x="0" y="0"/>
                </a:lnTo>
                <a:lnTo>
                  <a:pt x="0" y="2391519"/>
                </a:lnTo>
                <a:lnTo>
                  <a:pt x="2204546" y="2391519"/>
                </a:lnTo>
                <a:lnTo>
                  <a:pt x="22045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689277" flipH="1">
            <a:off x="16266910" y="-585702"/>
            <a:ext cx="2187845" cy="2373402"/>
          </a:xfrm>
          <a:custGeom>
            <a:avLst/>
            <a:gdLst/>
            <a:ahLst/>
            <a:cxnLst/>
            <a:rect l="l" t="t" r="r" b="b"/>
            <a:pathLst>
              <a:path w="2187845" h="2373402">
                <a:moveTo>
                  <a:pt x="2187845" y="0"/>
                </a:moveTo>
                <a:lnTo>
                  <a:pt x="0" y="0"/>
                </a:lnTo>
                <a:lnTo>
                  <a:pt x="0" y="2373402"/>
                </a:lnTo>
                <a:lnTo>
                  <a:pt x="2187845" y="2373402"/>
                </a:lnTo>
                <a:lnTo>
                  <a:pt x="218784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285019" y="7235826"/>
            <a:ext cx="5206870" cy="2923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Threshold ↓</a:t>
            </a:r>
          </a:p>
          <a:p>
            <a:pPr algn="ctr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↓</a:t>
            </a:r>
          </a:p>
          <a:p>
            <a:pPr algn="ctr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More images classified as Malignant</a:t>
            </a:r>
          </a:p>
          <a:p>
            <a:pPr algn="ctr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↓</a:t>
            </a:r>
          </a:p>
          <a:p>
            <a:pPr algn="ctr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Recall ↑</a:t>
            </a:r>
          </a:p>
          <a:p>
            <a:pPr algn="ctr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↓</a:t>
            </a:r>
          </a:p>
          <a:p>
            <a:pPr algn="ctr">
              <a:lnSpc>
                <a:spcPts val="3361"/>
              </a:lnSpc>
              <a:spcBef>
                <a:spcPct val="0"/>
              </a:spcBef>
            </a:pPr>
            <a:r>
              <a:rPr lang="en-US" sz="2401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False Negatives 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4574" y="-303542"/>
            <a:ext cx="1208253" cy="10894083"/>
          </a:xfrm>
          <a:custGeom>
            <a:avLst/>
            <a:gdLst/>
            <a:ahLst/>
            <a:cxnLst/>
            <a:rect l="l" t="t" r="r" b="b"/>
            <a:pathLst>
              <a:path w="1208253" h="10894083">
                <a:moveTo>
                  <a:pt x="0" y="0"/>
                </a:moveTo>
                <a:lnTo>
                  <a:pt x="1208252" y="0"/>
                </a:lnTo>
                <a:lnTo>
                  <a:pt x="1208252" y="10894084"/>
                </a:lnTo>
                <a:lnTo>
                  <a:pt x="0" y="10894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46933" y="3285438"/>
            <a:ext cx="4497063" cy="4513476"/>
          </a:xfrm>
          <a:custGeom>
            <a:avLst/>
            <a:gdLst/>
            <a:ahLst/>
            <a:cxnLst/>
            <a:rect l="l" t="t" r="r" b="b"/>
            <a:pathLst>
              <a:path w="4497063" h="4513476">
                <a:moveTo>
                  <a:pt x="0" y="0"/>
                </a:moveTo>
                <a:lnTo>
                  <a:pt x="4497063" y="0"/>
                </a:lnTo>
                <a:lnTo>
                  <a:pt x="4497063" y="4513476"/>
                </a:lnTo>
                <a:lnTo>
                  <a:pt x="0" y="4513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346933" y="3204523"/>
            <a:ext cx="4150578" cy="415057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228600" cap="sq">
              <a:solidFill>
                <a:srgbClr val="FFE4E7"/>
              </a:solidFill>
              <a:prstDash val="solid"/>
              <a:miter/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726355" y="3681626"/>
            <a:ext cx="9791903" cy="363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65"/>
              </a:lnSpc>
            </a:pPr>
            <a:r>
              <a:rPr lang="en-US" sz="2618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Understanding Model Predictions</a:t>
            </a:r>
          </a:p>
          <a:p>
            <a:pPr algn="just">
              <a:lnSpc>
                <a:spcPts val="3665"/>
              </a:lnSpc>
            </a:pPr>
            <a:r>
              <a:rPr lang="en-US" sz="2618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SHAP Explainability</a:t>
            </a:r>
          </a:p>
          <a:p>
            <a:pPr marL="565262" lvl="1" indent="-282631" algn="just">
              <a:lnSpc>
                <a:spcPts val="3665"/>
              </a:lnSpc>
              <a:buFont typeface="Arial"/>
              <a:buChar char="•"/>
            </a:pPr>
            <a:r>
              <a:rPr lang="en-US" sz="2618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Used SHAP to investigate model behavior.</a:t>
            </a:r>
          </a:p>
          <a:p>
            <a:pPr marL="565262" lvl="1" indent="-282631" algn="just">
              <a:lnSpc>
                <a:spcPts val="3665"/>
              </a:lnSpc>
              <a:buFont typeface="Arial"/>
              <a:buChar char="•"/>
            </a:pPr>
            <a:r>
              <a:rPr lang="en-US" sz="2618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Generated visual explanations for image predictions.</a:t>
            </a:r>
          </a:p>
          <a:p>
            <a:pPr marL="565262" lvl="1" indent="-282631" algn="just">
              <a:lnSpc>
                <a:spcPts val="3665"/>
              </a:lnSpc>
              <a:buFont typeface="Arial"/>
              <a:buChar char="•"/>
            </a:pPr>
            <a:r>
              <a:rPr lang="en-US" sz="2618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Helps us inspect which image regions/features influence predictions.</a:t>
            </a:r>
          </a:p>
          <a:p>
            <a:pPr algn="just">
              <a:lnSpc>
                <a:spcPts val="3665"/>
              </a:lnSpc>
            </a:pPr>
            <a:r>
              <a:rPr lang="en-US" sz="2618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SHAP explanations do not guarantee medically valid reasoning.</a:t>
            </a:r>
          </a:p>
          <a:p>
            <a:pPr marL="0" lvl="0" indent="0" algn="just">
              <a:lnSpc>
                <a:spcPts val="3665"/>
              </a:lnSpc>
              <a:spcBef>
                <a:spcPct val="0"/>
              </a:spcBef>
            </a:pPr>
            <a:endParaRPr lang="en-US" sz="2618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6236523" y="8439189"/>
            <a:ext cx="2508882" cy="1200960"/>
            <a:chOff x="0" y="0"/>
            <a:chExt cx="271200" cy="12981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1201" cy="129819"/>
            </a:xfrm>
            <a:custGeom>
              <a:avLst/>
              <a:gdLst/>
              <a:ahLst/>
              <a:cxnLst/>
              <a:rect l="l" t="t" r="r" b="b"/>
              <a:pathLst>
                <a:path w="271201" h="129819">
                  <a:moveTo>
                    <a:pt x="64910" y="0"/>
                  </a:moveTo>
                  <a:lnTo>
                    <a:pt x="206291" y="0"/>
                  </a:lnTo>
                  <a:cubicBezTo>
                    <a:pt x="223506" y="0"/>
                    <a:pt x="240016" y="6839"/>
                    <a:pt x="252189" y="19012"/>
                  </a:cubicBezTo>
                  <a:cubicBezTo>
                    <a:pt x="264362" y="31184"/>
                    <a:pt x="271201" y="47694"/>
                    <a:pt x="271201" y="64910"/>
                  </a:cubicBezTo>
                  <a:lnTo>
                    <a:pt x="271201" y="64910"/>
                  </a:lnTo>
                  <a:cubicBezTo>
                    <a:pt x="271201" y="100758"/>
                    <a:pt x="242139" y="129819"/>
                    <a:pt x="206291" y="129819"/>
                  </a:cubicBezTo>
                  <a:lnTo>
                    <a:pt x="64910" y="129819"/>
                  </a:lnTo>
                  <a:cubicBezTo>
                    <a:pt x="47694" y="129819"/>
                    <a:pt x="31184" y="122981"/>
                    <a:pt x="19012" y="110808"/>
                  </a:cubicBezTo>
                  <a:cubicBezTo>
                    <a:pt x="6839" y="98635"/>
                    <a:pt x="0" y="82125"/>
                    <a:pt x="0" y="64910"/>
                  </a:cubicBezTo>
                  <a:lnTo>
                    <a:pt x="0" y="64910"/>
                  </a:lnTo>
                  <a:cubicBezTo>
                    <a:pt x="0" y="47694"/>
                    <a:pt x="6839" y="31184"/>
                    <a:pt x="19012" y="19012"/>
                  </a:cubicBezTo>
                  <a:cubicBezTo>
                    <a:pt x="31184" y="6839"/>
                    <a:pt x="47694" y="0"/>
                    <a:pt x="64910" y="0"/>
                  </a:cubicBezTo>
                  <a:close/>
                </a:path>
              </a:pathLst>
            </a:custGeom>
            <a:solidFill>
              <a:srgbClr val="E57E7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1200" cy="167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59484" y="2072592"/>
            <a:ext cx="10492972" cy="121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Explainability with SHAP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113326" y="8626284"/>
            <a:ext cx="755276" cy="7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75"/>
              </a:lnSpc>
              <a:spcBef>
                <a:spcPct val="0"/>
              </a:spcBef>
            </a:pPr>
            <a:r>
              <a:rPr lang="en-US" sz="4197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08</a:t>
            </a:r>
          </a:p>
        </p:txBody>
      </p:sp>
      <p:sp>
        <p:nvSpPr>
          <p:cNvPr id="12" name="Freeform 12"/>
          <p:cNvSpPr/>
          <p:nvPr/>
        </p:nvSpPr>
        <p:spPr>
          <a:xfrm>
            <a:off x="-860596" y="5829700"/>
            <a:ext cx="4279008" cy="4457300"/>
          </a:xfrm>
          <a:custGeom>
            <a:avLst/>
            <a:gdLst/>
            <a:ahLst/>
            <a:cxnLst/>
            <a:rect l="l" t="t" r="r" b="b"/>
            <a:pathLst>
              <a:path w="4279008" h="4457300">
                <a:moveTo>
                  <a:pt x="0" y="0"/>
                </a:moveTo>
                <a:lnTo>
                  <a:pt x="4279008" y="0"/>
                </a:lnTo>
                <a:lnTo>
                  <a:pt x="4279008" y="4457300"/>
                </a:lnTo>
                <a:lnTo>
                  <a:pt x="0" y="4457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 flipV="1">
            <a:off x="14973822" y="-303542"/>
            <a:ext cx="4279008" cy="4457300"/>
          </a:xfrm>
          <a:custGeom>
            <a:avLst/>
            <a:gdLst/>
            <a:ahLst/>
            <a:cxnLst/>
            <a:rect l="l" t="t" r="r" b="b"/>
            <a:pathLst>
              <a:path w="4279008" h="4457300">
                <a:moveTo>
                  <a:pt x="4279008" y="4457300"/>
                </a:moveTo>
                <a:lnTo>
                  <a:pt x="0" y="4457300"/>
                </a:lnTo>
                <a:lnTo>
                  <a:pt x="0" y="0"/>
                </a:lnTo>
                <a:lnTo>
                  <a:pt x="4279008" y="0"/>
                </a:lnTo>
                <a:lnTo>
                  <a:pt x="4279008" y="44573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88844" y="240972"/>
            <a:ext cx="10492972" cy="121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Live Demo</a:t>
            </a:r>
          </a:p>
        </p:txBody>
      </p:sp>
      <p:sp>
        <p:nvSpPr>
          <p:cNvPr id="3" name="Freeform 3"/>
          <p:cNvSpPr/>
          <p:nvPr/>
        </p:nvSpPr>
        <p:spPr>
          <a:xfrm flipH="1">
            <a:off x="14466398" y="5958312"/>
            <a:ext cx="4279008" cy="4457300"/>
          </a:xfrm>
          <a:custGeom>
            <a:avLst/>
            <a:gdLst/>
            <a:ahLst/>
            <a:cxnLst/>
            <a:rect l="l" t="t" r="r" b="b"/>
            <a:pathLst>
              <a:path w="4279008" h="4457300">
                <a:moveTo>
                  <a:pt x="4279007" y="0"/>
                </a:moveTo>
                <a:lnTo>
                  <a:pt x="0" y="0"/>
                </a:lnTo>
                <a:lnTo>
                  <a:pt x="0" y="4457300"/>
                </a:lnTo>
                <a:lnTo>
                  <a:pt x="4279007" y="4457300"/>
                </a:lnTo>
                <a:lnTo>
                  <a:pt x="42790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6236523" y="8439189"/>
            <a:ext cx="2508882" cy="1200960"/>
            <a:chOff x="0" y="0"/>
            <a:chExt cx="271200" cy="1298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1201" cy="129819"/>
            </a:xfrm>
            <a:custGeom>
              <a:avLst/>
              <a:gdLst/>
              <a:ahLst/>
              <a:cxnLst/>
              <a:rect l="l" t="t" r="r" b="b"/>
              <a:pathLst>
                <a:path w="271201" h="129819">
                  <a:moveTo>
                    <a:pt x="64910" y="0"/>
                  </a:moveTo>
                  <a:lnTo>
                    <a:pt x="206291" y="0"/>
                  </a:lnTo>
                  <a:cubicBezTo>
                    <a:pt x="223506" y="0"/>
                    <a:pt x="240016" y="6839"/>
                    <a:pt x="252189" y="19012"/>
                  </a:cubicBezTo>
                  <a:cubicBezTo>
                    <a:pt x="264362" y="31184"/>
                    <a:pt x="271201" y="47694"/>
                    <a:pt x="271201" y="64910"/>
                  </a:cubicBezTo>
                  <a:lnTo>
                    <a:pt x="271201" y="64910"/>
                  </a:lnTo>
                  <a:cubicBezTo>
                    <a:pt x="271201" y="100758"/>
                    <a:pt x="242139" y="129819"/>
                    <a:pt x="206291" y="129819"/>
                  </a:cubicBezTo>
                  <a:lnTo>
                    <a:pt x="64910" y="129819"/>
                  </a:lnTo>
                  <a:cubicBezTo>
                    <a:pt x="47694" y="129819"/>
                    <a:pt x="31184" y="122981"/>
                    <a:pt x="19012" y="110808"/>
                  </a:cubicBezTo>
                  <a:cubicBezTo>
                    <a:pt x="6839" y="98635"/>
                    <a:pt x="0" y="82125"/>
                    <a:pt x="0" y="64910"/>
                  </a:cubicBezTo>
                  <a:lnTo>
                    <a:pt x="0" y="64910"/>
                  </a:lnTo>
                  <a:cubicBezTo>
                    <a:pt x="0" y="47694"/>
                    <a:pt x="6839" y="31184"/>
                    <a:pt x="19012" y="19012"/>
                  </a:cubicBezTo>
                  <a:cubicBezTo>
                    <a:pt x="31184" y="6839"/>
                    <a:pt x="47694" y="0"/>
                    <a:pt x="64910" y="0"/>
                  </a:cubicBezTo>
                  <a:close/>
                </a:path>
              </a:pathLst>
            </a:custGeom>
            <a:solidFill>
              <a:srgbClr val="E57E7E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71200" cy="167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313397" y="3082449"/>
            <a:ext cx="4497063" cy="4513476"/>
          </a:xfrm>
          <a:custGeom>
            <a:avLst/>
            <a:gdLst/>
            <a:ahLst/>
            <a:cxnLst/>
            <a:rect l="l" t="t" r="r" b="b"/>
            <a:pathLst>
              <a:path w="4497063" h="4513476">
                <a:moveTo>
                  <a:pt x="0" y="0"/>
                </a:moveTo>
                <a:lnTo>
                  <a:pt x="4497063" y="0"/>
                </a:lnTo>
                <a:lnTo>
                  <a:pt x="4497063" y="4513476"/>
                </a:lnTo>
                <a:lnTo>
                  <a:pt x="0" y="4513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87562" y="3126938"/>
            <a:ext cx="15033160" cy="6927551"/>
            <a:chOff x="0" y="0"/>
            <a:chExt cx="2164725" cy="9975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64725" cy="997544"/>
            </a:xfrm>
            <a:custGeom>
              <a:avLst/>
              <a:gdLst/>
              <a:ahLst/>
              <a:cxnLst/>
              <a:rect l="l" t="t" r="r" b="b"/>
              <a:pathLst>
                <a:path w="2164725" h="997544">
                  <a:moveTo>
                    <a:pt x="0" y="0"/>
                  </a:moveTo>
                  <a:lnTo>
                    <a:pt x="2164725" y="0"/>
                  </a:lnTo>
                  <a:lnTo>
                    <a:pt x="2164725" y="997544"/>
                  </a:lnTo>
                  <a:lnTo>
                    <a:pt x="0" y="997544"/>
                  </a:lnTo>
                  <a:close/>
                </a:path>
              </a:pathLst>
            </a:custGeom>
            <a:blipFill>
              <a:blip r:embed="rId5"/>
              <a:stretch>
                <a:fillRect t="-747" b="-747"/>
              </a:stretch>
            </a:blipFill>
            <a:ln w="228600" cap="sq">
              <a:solidFill>
                <a:srgbClr val="FFE4E7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3566690" y="2290440"/>
            <a:ext cx="10987510" cy="449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  <a:hlinkClick r:id="rId6"/>
              </a:rPr>
              <a:t>https://ai-training-mipxqexmw7lfuh84hevpb2.streamlit.app/</a:t>
            </a:r>
            <a:endParaRPr lang="en-US" sz="2700" dirty="0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11" name="Freeform 11"/>
          <p:cNvSpPr/>
          <p:nvPr/>
        </p:nvSpPr>
        <p:spPr>
          <a:xfrm flipV="1">
            <a:off x="-890322" y="0"/>
            <a:ext cx="4279008" cy="4457300"/>
          </a:xfrm>
          <a:custGeom>
            <a:avLst/>
            <a:gdLst/>
            <a:ahLst/>
            <a:cxnLst/>
            <a:rect l="l" t="t" r="r" b="b"/>
            <a:pathLst>
              <a:path w="4279008" h="4457300">
                <a:moveTo>
                  <a:pt x="0" y="4457300"/>
                </a:moveTo>
                <a:lnTo>
                  <a:pt x="4279008" y="4457300"/>
                </a:lnTo>
                <a:lnTo>
                  <a:pt x="4279008" y="0"/>
                </a:lnTo>
                <a:lnTo>
                  <a:pt x="0" y="0"/>
                </a:lnTo>
                <a:lnTo>
                  <a:pt x="0" y="4457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426786" y="882645"/>
            <a:ext cx="9812789" cy="14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79"/>
              </a:lnSpc>
            </a:pPr>
            <a:endParaRPr dirty="0"/>
          </a:p>
          <a:p>
            <a:pPr marL="0" lvl="0" indent="0" algn="just">
              <a:lnSpc>
                <a:spcPts val="3779"/>
              </a:lnSpc>
            </a:pPr>
            <a:r>
              <a:rPr lang="en-US" sz="2700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Simply upload a skin lesion image and receive an instant classification result with a malignant probability score.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113326" y="8626284"/>
            <a:ext cx="755276" cy="7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75"/>
              </a:lnSpc>
              <a:spcBef>
                <a:spcPct val="0"/>
              </a:spcBef>
            </a:pPr>
            <a:r>
              <a:rPr lang="en-US" sz="4197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48110" y="-16839565"/>
            <a:ext cx="3032778" cy="29588079"/>
          </a:xfrm>
          <a:custGeom>
            <a:avLst/>
            <a:gdLst/>
            <a:ahLst/>
            <a:cxnLst/>
            <a:rect l="l" t="t" r="r" b="b"/>
            <a:pathLst>
              <a:path w="3032778" h="29588079">
                <a:moveTo>
                  <a:pt x="0" y="0"/>
                </a:moveTo>
                <a:lnTo>
                  <a:pt x="3032778" y="0"/>
                </a:lnTo>
                <a:lnTo>
                  <a:pt x="3032778" y="29588080"/>
                </a:lnTo>
                <a:lnTo>
                  <a:pt x="0" y="29588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236523" y="8439189"/>
            <a:ext cx="2508882" cy="1200960"/>
            <a:chOff x="0" y="0"/>
            <a:chExt cx="271200" cy="1298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1201" cy="129819"/>
            </a:xfrm>
            <a:custGeom>
              <a:avLst/>
              <a:gdLst/>
              <a:ahLst/>
              <a:cxnLst/>
              <a:rect l="l" t="t" r="r" b="b"/>
              <a:pathLst>
                <a:path w="271201" h="129819">
                  <a:moveTo>
                    <a:pt x="64910" y="0"/>
                  </a:moveTo>
                  <a:lnTo>
                    <a:pt x="206291" y="0"/>
                  </a:lnTo>
                  <a:cubicBezTo>
                    <a:pt x="223506" y="0"/>
                    <a:pt x="240016" y="6839"/>
                    <a:pt x="252189" y="19012"/>
                  </a:cubicBezTo>
                  <a:cubicBezTo>
                    <a:pt x="264362" y="31184"/>
                    <a:pt x="271201" y="47694"/>
                    <a:pt x="271201" y="64910"/>
                  </a:cubicBezTo>
                  <a:lnTo>
                    <a:pt x="271201" y="64910"/>
                  </a:lnTo>
                  <a:cubicBezTo>
                    <a:pt x="271201" y="100758"/>
                    <a:pt x="242139" y="129819"/>
                    <a:pt x="206291" y="129819"/>
                  </a:cubicBezTo>
                  <a:lnTo>
                    <a:pt x="64910" y="129819"/>
                  </a:lnTo>
                  <a:cubicBezTo>
                    <a:pt x="47694" y="129819"/>
                    <a:pt x="31184" y="122981"/>
                    <a:pt x="19012" y="110808"/>
                  </a:cubicBezTo>
                  <a:cubicBezTo>
                    <a:pt x="6839" y="98635"/>
                    <a:pt x="0" y="82125"/>
                    <a:pt x="0" y="64910"/>
                  </a:cubicBezTo>
                  <a:lnTo>
                    <a:pt x="0" y="64910"/>
                  </a:lnTo>
                  <a:cubicBezTo>
                    <a:pt x="0" y="47694"/>
                    <a:pt x="6839" y="31184"/>
                    <a:pt x="19012" y="19012"/>
                  </a:cubicBezTo>
                  <a:cubicBezTo>
                    <a:pt x="31184" y="6839"/>
                    <a:pt x="47694" y="0"/>
                    <a:pt x="64910" y="0"/>
                  </a:cubicBezTo>
                  <a:close/>
                </a:path>
              </a:pathLst>
            </a:custGeom>
            <a:solidFill>
              <a:srgbClr val="E57E7E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1200" cy="167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981200" y="3570594"/>
            <a:ext cx="6883717" cy="1911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757"/>
              </a:lnSpc>
            </a:pPr>
            <a:r>
              <a:rPr lang="en-US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🔬 Case 1 — </a:t>
            </a:r>
            <a:r>
              <a:rPr lang="en-US" sz="2800" b="1" dirty="0"/>
              <a:t>Benign Prediction</a:t>
            </a:r>
            <a:r>
              <a:rPr lang="en-GB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:</a:t>
            </a:r>
            <a:endParaRPr lang="ar-SA" sz="2683" dirty="0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>
              <a:lnSpc>
                <a:spcPts val="3757"/>
              </a:lnSpc>
            </a:pPr>
            <a:r>
              <a:rPr lang="en-GB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Benign</a:t>
            </a:r>
            <a:r>
              <a:rPr lang="ar-SA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r>
              <a:rPr lang="en-GB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Prediction:</a:t>
            </a:r>
            <a:r>
              <a:rPr lang="ar-SA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r>
              <a:rPr lang="en-GB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Benign</a:t>
            </a:r>
            <a:r>
              <a:rPr lang="ar-SA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</a:p>
          <a:p>
            <a:pPr>
              <a:lnSpc>
                <a:spcPts val="3757"/>
              </a:lnSpc>
            </a:pPr>
            <a:r>
              <a:rPr lang="en-GB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Malignant Probability: 22.7%</a:t>
            </a:r>
            <a:r>
              <a:rPr lang="ar-SA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</a:p>
          <a:p>
            <a:pPr>
              <a:lnSpc>
                <a:spcPts val="3757"/>
              </a:lnSpc>
            </a:pPr>
            <a:r>
              <a:rPr lang="en-GB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Correct Prediction</a:t>
            </a:r>
            <a:r>
              <a:rPr lang="en-US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98811" y="2030107"/>
            <a:ext cx="5089642" cy="99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7"/>
              </a:lnSpc>
            </a:pPr>
            <a:r>
              <a:rPr lang="en-US" sz="5712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Case 1 &amp; Case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113326" y="8626284"/>
            <a:ext cx="755276" cy="7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75"/>
              </a:lnSpc>
              <a:spcBef>
                <a:spcPct val="0"/>
              </a:spcBef>
            </a:pPr>
            <a:r>
              <a:rPr lang="en-US" sz="4197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23058" y="6464960"/>
            <a:ext cx="7141178" cy="23984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757"/>
              </a:lnSpc>
            </a:pPr>
            <a:r>
              <a:rPr lang="en-US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🔬 </a:t>
            </a:r>
            <a:r>
              <a:rPr lang="en-GB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Case 2 —</a:t>
            </a:r>
            <a:r>
              <a:rPr lang="en-US" sz="2800" b="1" dirty="0"/>
              <a:t>High-Confidence Malignant Prediction</a:t>
            </a:r>
            <a:r>
              <a:rPr lang="en-GB" sz="2683" b="1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:</a:t>
            </a:r>
            <a:endParaRPr lang="ar-SA" sz="2683" b="1" dirty="0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 marL="0" lvl="0" indent="0" algn="l">
              <a:lnSpc>
                <a:spcPts val="3757"/>
              </a:lnSpc>
            </a:pPr>
            <a:r>
              <a:rPr lang="en-GB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Malignant</a:t>
            </a:r>
            <a:r>
              <a:rPr lang="ar-SA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  <a:r>
              <a:rPr lang="en-GB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Prediction: Malignant</a:t>
            </a:r>
            <a:r>
              <a:rPr lang="ar-SA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</a:p>
          <a:p>
            <a:pPr marL="0" lvl="0" indent="0" algn="l">
              <a:lnSpc>
                <a:spcPts val="3757"/>
              </a:lnSpc>
            </a:pPr>
            <a:r>
              <a:rPr lang="en-GB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Malignant Probability: 100%</a:t>
            </a:r>
            <a:endParaRPr lang="ar-SA" sz="2683" dirty="0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 marL="0" lvl="0" indent="0" algn="l">
              <a:lnSpc>
                <a:spcPts val="3757"/>
              </a:lnSpc>
            </a:pPr>
            <a:r>
              <a:rPr lang="en-GB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Correct Prediction — High Confidence</a:t>
            </a:r>
            <a:r>
              <a:rPr lang="en-US" sz="268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26967" y="3570594"/>
            <a:ext cx="6785895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b="1" dirty="0"/>
              <a:t> </a:t>
            </a:r>
            <a:r>
              <a:rPr lang="en-US" sz="2800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🔬 </a:t>
            </a:r>
            <a:r>
              <a:rPr lang="en-US" sz="2800" b="1" dirty="0"/>
              <a:t>Case 3 — Malignant Prediction: Malignant</a:t>
            </a:r>
            <a:r>
              <a:rPr lang="ar-SA" sz="2800" b="1" dirty="0"/>
              <a:t> </a:t>
            </a:r>
            <a:r>
              <a:rPr lang="en-US" sz="2800" b="1" dirty="0"/>
              <a:t>Prediction: Malignant</a:t>
            </a:r>
            <a:r>
              <a:rPr lang="ar-SA" sz="2800" b="1" dirty="0"/>
              <a:t> </a:t>
            </a:r>
          </a:p>
          <a:p>
            <a:r>
              <a:rPr lang="en-US" sz="2800" b="1" dirty="0"/>
              <a:t>Malignant Probability: 59.3%</a:t>
            </a:r>
            <a:endParaRPr lang="ar-SA" sz="2800" b="1" dirty="0"/>
          </a:p>
          <a:p>
            <a:r>
              <a:rPr lang="en-US" sz="2800" b="1" dirty="0"/>
              <a:t>Correct Prediction</a:t>
            </a:r>
            <a:r>
              <a:rPr lang="en-US" sz="2683" b="1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46756" y="2030107"/>
            <a:ext cx="5089642" cy="99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97"/>
              </a:lnSpc>
            </a:pPr>
            <a:r>
              <a:rPr lang="en-US" sz="5712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Case 3 — Edge Case</a:t>
            </a:r>
          </a:p>
        </p:txBody>
      </p:sp>
      <p:sp>
        <p:nvSpPr>
          <p:cNvPr id="13" name="Freeform 13"/>
          <p:cNvSpPr/>
          <p:nvPr/>
        </p:nvSpPr>
        <p:spPr>
          <a:xfrm rot="-1689277" flipH="1">
            <a:off x="-559322" y="8162044"/>
            <a:ext cx="2204546" cy="2391519"/>
          </a:xfrm>
          <a:custGeom>
            <a:avLst/>
            <a:gdLst/>
            <a:ahLst/>
            <a:cxnLst/>
            <a:rect l="l" t="t" r="r" b="b"/>
            <a:pathLst>
              <a:path w="2204546" h="2391519">
                <a:moveTo>
                  <a:pt x="2204546" y="0"/>
                </a:moveTo>
                <a:lnTo>
                  <a:pt x="0" y="0"/>
                </a:lnTo>
                <a:lnTo>
                  <a:pt x="0" y="2391519"/>
                </a:lnTo>
                <a:lnTo>
                  <a:pt x="2204546" y="2391519"/>
                </a:lnTo>
                <a:lnTo>
                  <a:pt x="220454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1689277" flipH="1">
            <a:off x="16266910" y="-585702"/>
            <a:ext cx="2187845" cy="2373402"/>
          </a:xfrm>
          <a:custGeom>
            <a:avLst/>
            <a:gdLst/>
            <a:ahLst/>
            <a:cxnLst/>
            <a:rect l="l" t="t" r="r" b="b"/>
            <a:pathLst>
              <a:path w="2187845" h="2373402">
                <a:moveTo>
                  <a:pt x="2187845" y="0"/>
                </a:moveTo>
                <a:lnTo>
                  <a:pt x="0" y="0"/>
                </a:lnTo>
                <a:lnTo>
                  <a:pt x="0" y="2373402"/>
                </a:lnTo>
                <a:lnTo>
                  <a:pt x="2187845" y="2373402"/>
                </a:lnTo>
                <a:lnTo>
                  <a:pt x="218784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36523" y="8439189"/>
            <a:ext cx="2508882" cy="1200960"/>
            <a:chOff x="0" y="0"/>
            <a:chExt cx="271200" cy="1298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1201" cy="129819"/>
            </a:xfrm>
            <a:custGeom>
              <a:avLst/>
              <a:gdLst/>
              <a:ahLst/>
              <a:cxnLst/>
              <a:rect l="l" t="t" r="r" b="b"/>
              <a:pathLst>
                <a:path w="271201" h="129819">
                  <a:moveTo>
                    <a:pt x="64910" y="0"/>
                  </a:moveTo>
                  <a:lnTo>
                    <a:pt x="206291" y="0"/>
                  </a:lnTo>
                  <a:cubicBezTo>
                    <a:pt x="223506" y="0"/>
                    <a:pt x="240016" y="6839"/>
                    <a:pt x="252189" y="19012"/>
                  </a:cubicBezTo>
                  <a:cubicBezTo>
                    <a:pt x="264362" y="31184"/>
                    <a:pt x="271201" y="47694"/>
                    <a:pt x="271201" y="64910"/>
                  </a:cubicBezTo>
                  <a:lnTo>
                    <a:pt x="271201" y="64910"/>
                  </a:lnTo>
                  <a:cubicBezTo>
                    <a:pt x="271201" y="100758"/>
                    <a:pt x="242139" y="129819"/>
                    <a:pt x="206291" y="129819"/>
                  </a:cubicBezTo>
                  <a:lnTo>
                    <a:pt x="64910" y="129819"/>
                  </a:lnTo>
                  <a:cubicBezTo>
                    <a:pt x="47694" y="129819"/>
                    <a:pt x="31184" y="122981"/>
                    <a:pt x="19012" y="110808"/>
                  </a:cubicBezTo>
                  <a:cubicBezTo>
                    <a:pt x="6839" y="98635"/>
                    <a:pt x="0" y="82125"/>
                    <a:pt x="0" y="64910"/>
                  </a:cubicBezTo>
                  <a:lnTo>
                    <a:pt x="0" y="64910"/>
                  </a:lnTo>
                  <a:cubicBezTo>
                    <a:pt x="0" y="47694"/>
                    <a:pt x="6839" y="31184"/>
                    <a:pt x="19012" y="19012"/>
                  </a:cubicBezTo>
                  <a:cubicBezTo>
                    <a:pt x="31184" y="6839"/>
                    <a:pt x="47694" y="0"/>
                    <a:pt x="64910" y="0"/>
                  </a:cubicBezTo>
                  <a:close/>
                </a:path>
              </a:pathLst>
            </a:custGeom>
            <a:solidFill>
              <a:srgbClr val="E57E7E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1200" cy="167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113326" y="8626284"/>
            <a:ext cx="755276" cy="7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75"/>
              </a:lnSpc>
              <a:spcBef>
                <a:spcPct val="0"/>
              </a:spcBef>
            </a:pPr>
            <a:r>
              <a:rPr lang="en-US" sz="4197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11</a:t>
            </a:r>
          </a:p>
        </p:txBody>
      </p:sp>
      <p:sp>
        <p:nvSpPr>
          <p:cNvPr id="6" name="Freeform 6"/>
          <p:cNvSpPr/>
          <p:nvPr/>
        </p:nvSpPr>
        <p:spPr>
          <a:xfrm rot="2537082" flipH="1">
            <a:off x="13673783" y="-2108556"/>
            <a:ext cx="4608481" cy="4999338"/>
          </a:xfrm>
          <a:custGeom>
            <a:avLst/>
            <a:gdLst/>
            <a:ahLst/>
            <a:cxnLst/>
            <a:rect l="l" t="t" r="r" b="b"/>
            <a:pathLst>
              <a:path w="4608481" h="4999338">
                <a:moveTo>
                  <a:pt x="4608481" y="0"/>
                </a:moveTo>
                <a:lnTo>
                  <a:pt x="0" y="0"/>
                </a:lnTo>
                <a:lnTo>
                  <a:pt x="0" y="4999338"/>
                </a:lnTo>
                <a:lnTo>
                  <a:pt x="4608481" y="4999338"/>
                </a:lnTo>
                <a:lnTo>
                  <a:pt x="4608481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43016" y="3011142"/>
            <a:ext cx="9812789" cy="199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Limitations:</a:t>
            </a:r>
          </a:p>
          <a:p>
            <a:pPr marL="0" lvl="0" indent="0"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Dataset-specific model; generalization concerns.</a:t>
            </a:r>
          </a:p>
          <a:p>
            <a:pPr marL="0" lvl="0" indent="0"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False positives and false negatives exist.</a:t>
            </a:r>
          </a:p>
          <a:p>
            <a:pPr marL="0" lvl="0" indent="0"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Threshold trade-offs affect error types.</a:t>
            </a:r>
          </a:p>
          <a:p>
            <a:pPr marL="0" lvl="0" indent="0"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Educational tool, not a clinical diagnostic.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3679" y="1496505"/>
            <a:ext cx="10492972" cy="121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Limitations &amp; Future Work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43016" y="5618504"/>
            <a:ext cx="9812789" cy="2390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Future Work:</a:t>
            </a:r>
          </a:p>
          <a:p>
            <a:pPr marL="0" lvl="0" indent="0"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Larger, more diverse training datasets.</a:t>
            </a:r>
          </a:p>
          <a:p>
            <a:pPr marL="0" lvl="0" indent="0"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External validation and transfer learning.</a:t>
            </a:r>
          </a:p>
          <a:p>
            <a:pPr marL="0" lvl="0" indent="0"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Robustness to image quality variations.</a:t>
            </a:r>
          </a:p>
          <a:p>
            <a:pPr marL="0" lvl="0" indent="0"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Systematic hyperparameter tuning.</a:t>
            </a:r>
          </a:p>
          <a:p>
            <a:pPr marL="0" lvl="0" indent="0" algn="just">
              <a:lnSpc>
                <a:spcPts val="3178"/>
              </a:lnSpc>
            </a:pPr>
            <a:r>
              <a:rPr lang="en-US" sz="227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Deployment monitoring and enhanced explainability.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205999" y="2885280"/>
            <a:ext cx="6523634" cy="5145516"/>
          </a:xfrm>
          <a:custGeom>
            <a:avLst/>
            <a:gdLst/>
            <a:ahLst/>
            <a:cxnLst/>
            <a:rect l="l" t="t" r="r" b="b"/>
            <a:pathLst>
              <a:path w="6523634" h="5145516">
                <a:moveTo>
                  <a:pt x="0" y="0"/>
                </a:moveTo>
                <a:lnTo>
                  <a:pt x="6523633" y="0"/>
                </a:lnTo>
                <a:lnTo>
                  <a:pt x="6523633" y="5145516"/>
                </a:lnTo>
                <a:lnTo>
                  <a:pt x="0" y="5145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689277" flipH="1">
            <a:off x="-1275540" y="6858135"/>
            <a:ext cx="4608481" cy="4999338"/>
          </a:xfrm>
          <a:custGeom>
            <a:avLst/>
            <a:gdLst/>
            <a:ahLst/>
            <a:cxnLst/>
            <a:rect l="l" t="t" r="r" b="b"/>
            <a:pathLst>
              <a:path w="4608481" h="4999338">
                <a:moveTo>
                  <a:pt x="4608480" y="0"/>
                </a:moveTo>
                <a:lnTo>
                  <a:pt x="0" y="0"/>
                </a:lnTo>
                <a:lnTo>
                  <a:pt x="0" y="4999338"/>
                </a:lnTo>
                <a:lnTo>
                  <a:pt x="4608480" y="4999338"/>
                </a:lnTo>
                <a:lnTo>
                  <a:pt x="4608480" y="0"/>
                </a:lnTo>
                <a:close/>
              </a:path>
            </a:pathLst>
          </a:custGeom>
          <a:blipFill>
            <a:blip r:embed="rId2">
              <a:alphaModFix amt="1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24574" y="-303542"/>
            <a:ext cx="1208253" cy="10894083"/>
          </a:xfrm>
          <a:custGeom>
            <a:avLst/>
            <a:gdLst/>
            <a:ahLst/>
            <a:cxnLst/>
            <a:rect l="l" t="t" r="r" b="b"/>
            <a:pathLst>
              <a:path w="1208253" h="10894083">
                <a:moveTo>
                  <a:pt x="0" y="0"/>
                </a:moveTo>
                <a:lnTo>
                  <a:pt x="1208252" y="0"/>
                </a:lnTo>
                <a:lnTo>
                  <a:pt x="1208252" y="10894084"/>
                </a:lnTo>
                <a:lnTo>
                  <a:pt x="0" y="10894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346933" y="3285438"/>
            <a:ext cx="4497063" cy="4513476"/>
          </a:xfrm>
          <a:custGeom>
            <a:avLst/>
            <a:gdLst/>
            <a:ahLst/>
            <a:cxnLst/>
            <a:rect l="l" t="t" r="r" b="b"/>
            <a:pathLst>
              <a:path w="4497063" h="4513476">
                <a:moveTo>
                  <a:pt x="0" y="0"/>
                </a:moveTo>
                <a:lnTo>
                  <a:pt x="4497063" y="0"/>
                </a:lnTo>
                <a:lnTo>
                  <a:pt x="4497063" y="4513476"/>
                </a:lnTo>
                <a:lnTo>
                  <a:pt x="0" y="4513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346933" y="3204523"/>
            <a:ext cx="4150578" cy="415057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228600" cap="sq">
              <a:solidFill>
                <a:srgbClr val="FFE4E7"/>
              </a:solidFill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6236523" y="8439189"/>
            <a:ext cx="2508882" cy="1200960"/>
            <a:chOff x="0" y="0"/>
            <a:chExt cx="271200" cy="1298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1201" cy="129819"/>
            </a:xfrm>
            <a:custGeom>
              <a:avLst/>
              <a:gdLst/>
              <a:ahLst/>
              <a:cxnLst/>
              <a:rect l="l" t="t" r="r" b="b"/>
              <a:pathLst>
                <a:path w="271201" h="129819">
                  <a:moveTo>
                    <a:pt x="64910" y="0"/>
                  </a:moveTo>
                  <a:lnTo>
                    <a:pt x="206291" y="0"/>
                  </a:lnTo>
                  <a:cubicBezTo>
                    <a:pt x="223506" y="0"/>
                    <a:pt x="240016" y="6839"/>
                    <a:pt x="252189" y="19012"/>
                  </a:cubicBezTo>
                  <a:cubicBezTo>
                    <a:pt x="264362" y="31184"/>
                    <a:pt x="271201" y="47694"/>
                    <a:pt x="271201" y="64910"/>
                  </a:cubicBezTo>
                  <a:lnTo>
                    <a:pt x="271201" y="64910"/>
                  </a:lnTo>
                  <a:cubicBezTo>
                    <a:pt x="271201" y="100758"/>
                    <a:pt x="242139" y="129819"/>
                    <a:pt x="206291" y="129819"/>
                  </a:cubicBezTo>
                  <a:lnTo>
                    <a:pt x="64910" y="129819"/>
                  </a:lnTo>
                  <a:cubicBezTo>
                    <a:pt x="47694" y="129819"/>
                    <a:pt x="31184" y="122981"/>
                    <a:pt x="19012" y="110808"/>
                  </a:cubicBezTo>
                  <a:cubicBezTo>
                    <a:pt x="6839" y="98635"/>
                    <a:pt x="0" y="82125"/>
                    <a:pt x="0" y="64910"/>
                  </a:cubicBezTo>
                  <a:lnTo>
                    <a:pt x="0" y="64910"/>
                  </a:lnTo>
                  <a:cubicBezTo>
                    <a:pt x="0" y="47694"/>
                    <a:pt x="6839" y="31184"/>
                    <a:pt x="19012" y="19012"/>
                  </a:cubicBezTo>
                  <a:cubicBezTo>
                    <a:pt x="31184" y="6839"/>
                    <a:pt x="47694" y="0"/>
                    <a:pt x="64910" y="0"/>
                  </a:cubicBezTo>
                  <a:close/>
                </a:path>
              </a:pathLst>
            </a:custGeom>
            <a:solidFill>
              <a:srgbClr val="E57E7E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1200" cy="1679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459484" y="1432317"/>
            <a:ext cx="10492972" cy="1212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793"/>
              </a:lnSpc>
            </a:pPr>
            <a:r>
              <a:rPr lang="en-US" sz="6995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Conclusion &amp; Questions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13326" y="8626284"/>
            <a:ext cx="755276" cy="73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875"/>
              </a:lnSpc>
              <a:spcBef>
                <a:spcPct val="0"/>
              </a:spcBef>
            </a:pPr>
            <a:r>
              <a:rPr lang="en-US" sz="4197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12</a:t>
            </a:r>
          </a:p>
        </p:txBody>
      </p:sp>
      <p:sp>
        <p:nvSpPr>
          <p:cNvPr id="11" name="Freeform 11"/>
          <p:cNvSpPr/>
          <p:nvPr/>
        </p:nvSpPr>
        <p:spPr>
          <a:xfrm>
            <a:off x="-860596" y="5829700"/>
            <a:ext cx="4279008" cy="4457300"/>
          </a:xfrm>
          <a:custGeom>
            <a:avLst/>
            <a:gdLst/>
            <a:ahLst/>
            <a:cxnLst/>
            <a:rect l="l" t="t" r="r" b="b"/>
            <a:pathLst>
              <a:path w="4279008" h="4457300">
                <a:moveTo>
                  <a:pt x="0" y="0"/>
                </a:moveTo>
                <a:lnTo>
                  <a:pt x="4279008" y="0"/>
                </a:lnTo>
                <a:lnTo>
                  <a:pt x="4279008" y="4457300"/>
                </a:lnTo>
                <a:lnTo>
                  <a:pt x="0" y="4457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 flipV="1">
            <a:off x="14973822" y="-303542"/>
            <a:ext cx="4279008" cy="4457300"/>
          </a:xfrm>
          <a:custGeom>
            <a:avLst/>
            <a:gdLst/>
            <a:ahLst/>
            <a:cxnLst/>
            <a:rect l="l" t="t" r="r" b="b"/>
            <a:pathLst>
              <a:path w="4279008" h="4457300">
                <a:moveTo>
                  <a:pt x="4279008" y="4457300"/>
                </a:moveTo>
                <a:lnTo>
                  <a:pt x="0" y="4457300"/>
                </a:lnTo>
                <a:lnTo>
                  <a:pt x="0" y="0"/>
                </a:lnTo>
                <a:lnTo>
                  <a:pt x="4279008" y="0"/>
                </a:lnTo>
                <a:lnTo>
                  <a:pt x="4279008" y="44573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51368" y="2767167"/>
            <a:ext cx="9812789" cy="2508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98"/>
              </a:lnSpc>
            </a:pPr>
            <a:r>
              <a:rPr lang="en-US" sz="285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Problem: classify skin-lesion images as Benign or Malignant. </a:t>
            </a:r>
          </a:p>
          <a:p>
            <a:pPr marL="0" lvl="0" indent="0" algn="just">
              <a:lnSpc>
                <a:spcPts val="3998"/>
              </a:lnSpc>
            </a:pPr>
            <a:r>
              <a:rPr lang="en-US" sz="285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Approach: Preprocessing → CNN → Evaluation → Explainability (SHAP) → Streamlit Deployment. An end-to-end deep learning pipeline built for real-world usability.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32826" y="5488051"/>
            <a:ext cx="9812789" cy="1499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998"/>
              </a:lnSpc>
            </a:pPr>
            <a:r>
              <a:rPr lang="en-US" sz="285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Results at Threshold 0.35: 89.15% Accuracy · 91.40% Malignant Recall · 89.39% Malignant F1 · Only 86 False Negatives.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7412155"/>
            <a:ext cx="15243166" cy="1945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5"/>
              </a:lnSpc>
              <a:spcBef>
                <a:spcPct val="0"/>
              </a:spcBef>
            </a:pPr>
            <a:r>
              <a:rPr lang="en-US" sz="3646">
                <a:solidFill>
                  <a:srgbClr val="000000"/>
                </a:solidFill>
                <a:latin typeface="Ahkio"/>
                <a:ea typeface="Ahkio"/>
                <a:cs typeface="Ahkio"/>
                <a:sym typeface="Ahkio"/>
              </a:rPr>
              <a:t>Final Outcome</a:t>
            </a:r>
          </a:p>
          <a:p>
            <a:pPr algn="ctr">
              <a:lnSpc>
                <a:spcPts val="5105"/>
              </a:lnSpc>
              <a:spcBef>
                <a:spcPct val="0"/>
              </a:spcBef>
            </a:pPr>
            <a:r>
              <a:rPr lang="en-US" sz="3646">
                <a:solidFill>
                  <a:srgbClr val="000000"/>
                </a:solidFill>
                <a:latin typeface="Ahkio"/>
                <a:ea typeface="Ahkio"/>
                <a:cs typeface="Ahkio"/>
                <a:sym typeface="Ahkio"/>
              </a:rPr>
              <a:t>A complete end-to-end image-classification pipeline was developed and deployed using Streamlit.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4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1897" y="5238201"/>
            <a:ext cx="7019936" cy="3165353"/>
          </a:xfrm>
          <a:custGeom>
            <a:avLst/>
            <a:gdLst/>
            <a:ahLst/>
            <a:cxnLst/>
            <a:rect l="l" t="t" r="r" b="b"/>
            <a:pathLst>
              <a:path w="7019936" h="3165353">
                <a:moveTo>
                  <a:pt x="0" y="0"/>
                </a:moveTo>
                <a:lnTo>
                  <a:pt x="7019936" y="0"/>
                </a:lnTo>
                <a:lnTo>
                  <a:pt x="7019936" y="3165353"/>
                </a:lnTo>
                <a:lnTo>
                  <a:pt x="0" y="31653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48775" y="1886440"/>
            <a:ext cx="6086180" cy="5909127"/>
          </a:xfrm>
          <a:custGeom>
            <a:avLst/>
            <a:gdLst/>
            <a:ahLst/>
            <a:cxnLst/>
            <a:rect l="l" t="t" r="r" b="b"/>
            <a:pathLst>
              <a:path w="6086180" h="5909127">
                <a:moveTo>
                  <a:pt x="0" y="0"/>
                </a:moveTo>
                <a:lnTo>
                  <a:pt x="6086180" y="0"/>
                </a:lnTo>
                <a:lnTo>
                  <a:pt x="6086180" y="5909128"/>
                </a:lnTo>
                <a:lnTo>
                  <a:pt x="0" y="59091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34955" y="3299891"/>
            <a:ext cx="9710494" cy="250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004"/>
              </a:lnSpc>
            </a:pPr>
            <a:r>
              <a:rPr lang="en-US" sz="7146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THANK YOU!</a:t>
            </a:r>
          </a:p>
          <a:p>
            <a:pPr marL="0" lvl="0" indent="0" algn="ctr">
              <a:lnSpc>
                <a:spcPts val="10004"/>
              </a:lnSpc>
            </a:pPr>
            <a:r>
              <a:rPr lang="en-US" sz="7146" b="1">
                <a:solidFill>
                  <a:srgbClr val="B24E4E"/>
                </a:solidFill>
                <a:latin typeface="Ahkio Bold"/>
                <a:ea typeface="Ahkio Bold"/>
                <a:cs typeface="Ahkio Bold"/>
                <a:sym typeface="Ahkio Bold"/>
              </a:rPr>
              <a:t>QUESTIONS?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13973870" y="4642039"/>
            <a:ext cx="5571202" cy="5803335"/>
          </a:xfrm>
          <a:custGeom>
            <a:avLst/>
            <a:gdLst/>
            <a:ahLst/>
            <a:cxnLst/>
            <a:rect l="l" t="t" r="r" b="b"/>
            <a:pathLst>
              <a:path w="5571202" h="5803335">
                <a:moveTo>
                  <a:pt x="5571201" y="0"/>
                </a:moveTo>
                <a:lnTo>
                  <a:pt x="0" y="0"/>
                </a:lnTo>
                <a:lnTo>
                  <a:pt x="0" y="5803335"/>
                </a:lnTo>
                <a:lnTo>
                  <a:pt x="5571201" y="5803335"/>
                </a:lnTo>
                <a:lnTo>
                  <a:pt x="557120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27105" y="-557973"/>
            <a:ext cx="2925249" cy="3173347"/>
          </a:xfrm>
          <a:custGeom>
            <a:avLst/>
            <a:gdLst/>
            <a:ahLst/>
            <a:cxnLst/>
            <a:rect l="l" t="t" r="r" b="b"/>
            <a:pathLst>
              <a:path w="2925249" h="3173347">
                <a:moveTo>
                  <a:pt x="0" y="0"/>
                </a:moveTo>
                <a:lnTo>
                  <a:pt x="2925249" y="0"/>
                </a:lnTo>
                <a:lnTo>
                  <a:pt x="2925249" y="3173346"/>
                </a:lnTo>
                <a:lnTo>
                  <a:pt x="0" y="31733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1425065" y="7279938"/>
            <a:ext cx="3469231" cy="3763465"/>
          </a:xfrm>
          <a:custGeom>
            <a:avLst/>
            <a:gdLst/>
            <a:ahLst/>
            <a:cxnLst/>
            <a:rect l="l" t="t" r="r" b="b"/>
            <a:pathLst>
              <a:path w="3469231" h="3763465">
                <a:moveTo>
                  <a:pt x="3469231" y="0"/>
                </a:moveTo>
                <a:lnTo>
                  <a:pt x="0" y="0"/>
                </a:lnTo>
                <a:lnTo>
                  <a:pt x="0" y="3763466"/>
                </a:lnTo>
                <a:lnTo>
                  <a:pt x="3469231" y="3763466"/>
                </a:lnTo>
                <a:lnTo>
                  <a:pt x="346923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653</Words>
  <Application>Microsoft Office PowerPoint</Application>
  <PresentationFormat>Custom</PresentationFormat>
  <Paragraphs>132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Ahkio</vt:lpstr>
      <vt:lpstr>Alatsi</vt:lpstr>
      <vt:lpstr>Ahkio Bold</vt:lpstr>
      <vt:lpstr>Alata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Template-Based Presentation</dc:title>
  <cp:lastModifiedBy>Mohammad Majdi Ahmad Yahya</cp:lastModifiedBy>
  <cp:revision>6</cp:revision>
  <dcterms:created xsi:type="dcterms:W3CDTF">2006-08-16T00:00:00Z</dcterms:created>
  <dcterms:modified xsi:type="dcterms:W3CDTF">2026-09-20T14:33:55Z</dcterms:modified>
  <dc:identifier>DAHVvZITzuI</dc:identifier>
</cp:coreProperties>
</file>